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- Ảnh bìa: OpenAI ImageGen, tạo riêng cho bài thuyết trình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- Hình 2.1 trong báo cáo: Kiến trúc tổng thể hệ thống IoT quy mô nhỏ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- Hình 2.2 trong báo cáo: Quy trình quản lý rủi ro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- Hình 5.1: Danh mục tài sản trích từ tệp kết quả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- Hình 5.3: Ma trận đánh giá rủi ro 5×5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- 231A010722-VONGUYENDUYEN-BAOCAOTIEULUAN-DE TAI 35.docx</a:t>
            </a:r>
          </a:p>
          <a:p>
            <a:r>
              <a:t>- Risk_Register_va_Ma_tran_Rui_ro.xlsx và dữ liệu trong SỐ 1906.zip</a:t>
            </a:r>
          </a:p>
          <a:p>
            <a:r>
              <a:t>- Ảnh nền: OpenAI ImageGen, tạo riêng cho bài thuyết trình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D63254-CE3D-4E1B-9998-ADABB399BD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2306C-6CB2-4129-80ED-4458187FAD9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38100" cy="685800"/>
          </a:xfrm>
          <a:prstGeom prst="rect">
            <a:avLst/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48BF6-3B89-4141-8EDC-5F5234627870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3028950" cy="266700"/>
          </a:xfrm>
          <a:prstGeom prst="roundRect">
            <a:avLst>
              <a:gd name="adj" fmla="val 50000"/>
            </a:avLst>
          </a:prstGeom>
          <a:solidFill>
            <a:srgbClr val="123C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4776D2-77E8-4F6B-8CAF-9DA178DAB7AE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59DCE0"/>
                </a:solidFill>
              </a:defRPr>
            </a:pPr>
            <a:r>
              <a:rPr sz="900" b="1" i="0">
                <a:solidFill>
                  <a:srgbClr val="59DCE0"/>
                </a:solidFill>
              </a:rPr>
              <a:t>TIỂU LUẬN CUỐI KỲ  •  BẢO MẬT IoT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7B85C3-E71A-423D-83EC-B1B0936B953D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59055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QUẢN LÝ RỦI RO</a:t>
            </a:r>
          </a:p>
          <a:p>
            <a:pPr algn="l"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BẢO MẬT CHO HỆ THỐNG IoT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DF4A01-24C0-4B6E-9F24-D771B1A3042B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1" i="0">
                <a:solidFill>
                  <a:srgbClr val="18C7B3"/>
                </a:solidFill>
              </a:defRPr>
            </a:pPr>
            <a:r>
              <a:rPr sz="2925" b="1" i="0">
                <a:solidFill>
                  <a:srgbClr val="18C7B3"/>
                </a:solidFill>
              </a:rPr>
              <a:t>QUY MÔ NHỎ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EEC314-DEFD-4DB3-9CCE-B22A06EF5D87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D4E9EE"/>
                </a:solidFill>
              </a:defRPr>
            </a:pPr>
            <a:r>
              <a:rPr sz="1350" b="0" i="0">
                <a:solidFill>
                  <a:srgbClr val="D4E9EE"/>
                </a:solidFill>
              </a:rPr>
              <a:t>Nhận diện tài sản  •  Đánh giá rủi ro  •  Kiểm soát theo ưu tiên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88FF10-5B60-4D43-AF52-6F4D081D7930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4229100" cy="952500"/>
          </a:xfrm>
          <a:prstGeom prst="roundRect">
            <a:avLst>
              <a:gd name="adj" fmla="val 12000"/>
            </a:avLst>
          </a:prstGeom>
          <a:solidFill>
            <a:srgbClr val="0A2A40"/>
          </a:solidFill>
          <a:ln w="9525">
            <a:solidFill>
              <a:srgbClr val="1C5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3AEE5-6DEA-45DD-B20C-656BB856B733}"/>
              </a:ext>
            </a:extLst>
          </p:cNvPr>
          <p:cNvSpPr>
            <a:spLocks noGrp="1"/>
          </p:cNvSpPr>
          <p:nvPr/>
        </p:nvSpPr>
        <p:spPr>
          <a:xfrm>
            <a:off x="1066800" y="51435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7FB4C3"/>
                </a:solidFill>
              </a:defRPr>
            </a:pPr>
            <a:r>
              <a:rPr sz="825" b="1" i="0">
                <a:solidFill>
                  <a:srgbClr val="7FB4C3"/>
                </a:solidFill>
              </a:rPr>
              <a:t>Sinh viên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74104-C2F0-47C6-A10B-4998D124213C}"/>
              </a:ext>
            </a:extLst>
          </p:cNvPr>
          <p:cNvSpPr>
            <a:spLocks noGrp="1"/>
          </p:cNvSpPr>
          <p:nvPr/>
        </p:nvSpPr>
        <p:spPr>
          <a:xfrm>
            <a:off x="1066800" y="53530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VÕ NGUYỄN DUYÊN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94090D-8A85-44B2-8F3A-B4817DCF1605}"/>
              </a:ext>
            </a:extLst>
          </p:cNvPr>
          <p:cNvSpPr>
            <a:spLocks noGrp="1"/>
          </p:cNvSpPr>
          <p:nvPr/>
        </p:nvSpPr>
        <p:spPr>
          <a:xfrm>
            <a:off x="1066800" y="56197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59DCE0"/>
                </a:solidFill>
              </a:defRPr>
            </a:pPr>
            <a:r>
              <a:rPr sz="825" b="1" i="0">
                <a:solidFill>
                  <a:srgbClr val="59DCE0"/>
                </a:solidFill>
              </a:rPr>
              <a:t>MSSV 231A010722  •  GV: HỒ NHỰT MINH</a:t>
            </a:r>
          </a:p>
        </p:txBody>
      </p:sp>
    </p:spTree>
    <p:extLst>
      <p:ext uri="{BB962C8B-B14F-4D97-AF65-F5344CB8AC3E}">
        <p14:creationId xmlns:p14="http://schemas.microsoft.com/office/powerpoint/2010/main" val="1076462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4A4DC19-2E4C-4211-B58A-A13FB3D14D2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9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/ BỐI CẢNH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724391-A328-44F7-9F97-3D025898F01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toán: nhiều điểm kết nối, nhiều bề mặt tấn công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A1A9D-5234-4F0F-8E43-D1FC9966980F}"/>
              </a:ext>
            </a:extLst>
          </p:cNvPr>
          <p:cNvSpPr>
            <a:spLocks noGrp="1"/>
          </p:cNvSpPr>
          <p:nvPr/>
        </p:nvSpPr>
        <p:spPr>
          <a:xfrm>
            <a:off x="11334750" y="4381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7596AA"/>
                </a:solidFill>
              </a:defRPr>
            </a:pPr>
            <a:r>
              <a:rPr sz="900" b="1" i="0">
                <a:solidFill>
                  <a:srgbClr val="7596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8AC6AFB-B36D-4832-9F99-CED51B891329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0"/>
          </a:xfrm>
          <a:prstGeom prst="line">
            <a:avLst/>
          </a:prstGeom>
          <a:noFill/>
          <a:ln w="9525">
            <a:solidFill>
              <a:srgbClr val="21475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A82FE2-ADA3-41B2-8142-4BF7E29A60B1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4191000" cy="4438650"/>
          </a:xfrm>
          <a:prstGeom prst="roundRect">
            <a:avLst>
              <a:gd name="adj" fmla="val 3636"/>
            </a:avLst>
          </a:prstGeom>
          <a:solidFill>
            <a:srgbClr val="0E3049"/>
          </a:solidFill>
          <a:ln w="9525">
            <a:solidFill>
              <a:srgbClr val="1D5068"/>
            </a:solidFill>
            <a:prstDash val="solid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666A27-1670-49F1-86F2-947D47945A29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B77D7-F909-4682-8DAE-472F5377F411}"/>
              </a:ext>
            </a:extLst>
          </p:cNvPr>
          <p:cNvSpPr>
            <a:spLocks noGrp="1"/>
          </p:cNvSpPr>
          <p:nvPr/>
        </p:nvSpPr>
        <p:spPr>
          <a:xfrm>
            <a:off x="952500" y="165735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900" b="1" i="0" dirty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9F540-7E43-45B1-A06A-F1CB6D1023C4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33337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thiết bị yếu</a:t>
            </a:r>
          </a:p>
          <a:p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thể trở thành</a:t>
            </a:r>
          </a:p>
          <a:p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 vào của cả hệ thống.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8454A-E2A3-461C-AA2D-5F631518CE04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3295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C7DCE5"/>
                </a:solidFill>
              </a:defRPr>
            </a:pPr>
            <a:r>
              <a:rPr sz="1600" b="0" i="0">
                <a:solidFill>
                  <a:srgbClr val="C7DC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Gateway, tài khoản quản trị, firmware và kết nối từ xa cùng tạo nên chuỗi rủi ro liên kết.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DD5F3-8099-4BC6-B6BD-BC3875BDA1BB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của đề tài là biến rủi ro thành danh sách ưu tiên có thể hành động.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885D99-1216-4DD4-8127-8621178271EB}"/>
              </a:ext>
            </a:extLst>
          </p:cNvPr>
          <p:cNvSpPr>
            <a:spLocks noGrp="1"/>
          </p:cNvSpPr>
          <p:nvPr/>
        </p:nvSpPr>
        <p:spPr>
          <a:xfrm>
            <a:off x="5219700" y="1504950"/>
            <a:ext cx="2819400" cy="1162050"/>
          </a:xfrm>
          <a:prstGeom prst="roundRect">
            <a:avLst>
              <a:gd name="adj" fmla="val 9836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C9799-2E35-4E45-9CDF-FE3BB1555423}"/>
              </a:ext>
            </a:extLst>
          </p:cNvPr>
          <p:cNvSpPr>
            <a:spLocks noGrp="1"/>
          </p:cNvSpPr>
          <p:nvPr/>
        </p:nvSpPr>
        <p:spPr>
          <a:xfrm>
            <a:off x="5391150" y="16764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8C7B3"/>
                </a:solidFill>
              </a:defRPr>
            </a:pPr>
            <a:r>
              <a:rPr sz="1875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3148E0-234B-476D-9CA7-F8BF82BC0D8F}"/>
              </a:ext>
            </a:extLst>
          </p:cNvPr>
          <p:cNvSpPr>
            <a:spLocks noGrp="1"/>
          </p:cNvSpPr>
          <p:nvPr/>
        </p:nvSpPr>
        <p:spPr>
          <a:xfrm>
            <a:off x="5391150" y="209550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&amp; phân loại tài sản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4B153-F6BB-418B-BC11-2EC02194B3FA}"/>
              </a:ext>
            </a:extLst>
          </p:cNvPr>
          <p:cNvSpPr>
            <a:spLocks noGrp="1"/>
          </p:cNvSpPr>
          <p:nvPr/>
        </p:nvSpPr>
        <p:spPr>
          <a:xfrm>
            <a:off x="5219700" y="2933700"/>
            <a:ext cx="2819400" cy="1162050"/>
          </a:xfrm>
          <a:prstGeom prst="roundRect">
            <a:avLst>
              <a:gd name="adj" fmla="val 9836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65446D-2150-4BCD-8BE5-EF012901A4A7}"/>
              </a:ext>
            </a:extLst>
          </p:cNvPr>
          <p:cNvSpPr>
            <a:spLocks noGrp="1"/>
          </p:cNvSpPr>
          <p:nvPr/>
        </p:nvSpPr>
        <p:spPr>
          <a:xfrm>
            <a:off x="5391150" y="31051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8C7B3"/>
                </a:solidFill>
              </a:defRPr>
            </a:pPr>
            <a:r>
              <a:rPr sz="1875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C5FCF0-1A3E-4C54-A339-C0D038D18BFE}"/>
              </a:ext>
            </a:extLst>
          </p:cNvPr>
          <p:cNvSpPr>
            <a:spLocks noGrp="1"/>
          </p:cNvSpPr>
          <p:nvPr/>
        </p:nvSpPr>
        <p:spPr>
          <a:xfrm>
            <a:off x="5391150" y="352425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 diện mối đe dọa và lỗ hổng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966523-A873-4E3F-A263-61D07CA2B85C}"/>
              </a:ext>
            </a:extLst>
          </p:cNvPr>
          <p:cNvSpPr>
            <a:spLocks noGrp="1"/>
          </p:cNvSpPr>
          <p:nvPr/>
        </p:nvSpPr>
        <p:spPr>
          <a:xfrm>
            <a:off x="5219700" y="4362450"/>
            <a:ext cx="2819400" cy="1162050"/>
          </a:xfrm>
          <a:prstGeom prst="roundRect">
            <a:avLst>
              <a:gd name="adj" fmla="val 9836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31EED5-26A8-43B9-B408-BEEC53423243}"/>
              </a:ext>
            </a:extLst>
          </p:cNvPr>
          <p:cNvSpPr>
            <a:spLocks noGrp="1"/>
          </p:cNvSpPr>
          <p:nvPr/>
        </p:nvSpPr>
        <p:spPr>
          <a:xfrm>
            <a:off x="5391150" y="45339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F4B942"/>
                </a:solidFill>
              </a:defRPr>
            </a:pPr>
            <a:r>
              <a:rPr sz="1875" b="1" i="0">
                <a:solidFill>
                  <a:srgbClr val="F4B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CC6FC-3DB0-4EA4-8780-0AE7CA8C910A}"/>
              </a:ext>
            </a:extLst>
          </p:cNvPr>
          <p:cNvSpPr>
            <a:spLocks noGrp="1"/>
          </p:cNvSpPr>
          <p:nvPr/>
        </p:nvSpPr>
        <p:spPr>
          <a:xfrm>
            <a:off x="5391150" y="495300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Risk Register + ma trận 5×5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508B9B5-BED4-4A3A-B585-90B7D9A2ECFC}"/>
              </a:ext>
            </a:extLst>
          </p:cNvPr>
          <p:cNvSpPr>
            <a:spLocks noGrp="1"/>
          </p:cNvSpPr>
          <p:nvPr/>
        </p:nvSpPr>
        <p:spPr>
          <a:xfrm>
            <a:off x="8420100" y="2228850"/>
            <a:ext cx="2819400" cy="1162050"/>
          </a:xfrm>
          <a:prstGeom prst="roundRect">
            <a:avLst>
              <a:gd name="adj" fmla="val 9836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65C245-EEEB-46AD-9BD3-8ABB2149B64F}"/>
              </a:ext>
            </a:extLst>
          </p:cNvPr>
          <p:cNvSpPr>
            <a:spLocks noGrp="1"/>
          </p:cNvSpPr>
          <p:nvPr/>
        </p:nvSpPr>
        <p:spPr>
          <a:xfrm>
            <a:off x="8591550" y="24003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8C7B3"/>
                </a:solidFill>
              </a:defRPr>
            </a:pPr>
            <a:r>
              <a:rPr sz="1875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F2E467-4F6A-4032-86C7-B89DA922AF76}"/>
              </a:ext>
            </a:extLst>
          </p:cNvPr>
          <p:cNvSpPr>
            <a:spLocks noGrp="1"/>
          </p:cNvSpPr>
          <p:nvPr/>
        </p:nvSpPr>
        <p:spPr>
          <a:xfrm>
            <a:off x="8591550" y="281940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biện pháp cho rủi ro ưu tiên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99A1D8-5FDE-4254-97EA-94F060DCD199}"/>
              </a:ext>
            </a:extLst>
          </p:cNvPr>
          <p:cNvSpPr>
            <a:spLocks noGrp="1"/>
          </p:cNvSpPr>
          <p:nvPr/>
        </p:nvSpPr>
        <p:spPr>
          <a:xfrm>
            <a:off x="8420100" y="3657600"/>
            <a:ext cx="2819400" cy="1162050"/>
          </a:xfrm>
          <a:prstGeom prst="roundRect">
            <a:avLst>
              <a:gd name="adj" fmla="val 9836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59A8A4-43A0-4315-96F4-B8C58209B541}"/>
              </a:ext>
            </a:extLst>
          </p:cNvPr>
          <p:cNvSpPr>
            <a:spLocks noGrp="1"/>
          </p:cNvSpPr>
          <p:nvPr/>
        </p:nvSpPr>
        <p:spPr>
          <a:xfrm>
            <a:off x="8591550" y="38290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8C7B3"/>
                </a:solidFill>
              </a:defRPr>
            </a:pPr>
            <a:r>
              <a:rPr sz="1875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858B0A-985E-486E-8ADC-EE1BDC55995D}"/>
              </a:ext>
            </a:extLst>
          </p:cNvPr>
          <p:cNvSpPr>
            <a:spLocks noGrp="1"/>
          </p:cNvSpPr>
          <p:nvPr/>
        </p:nvSpPr>
        <p:spPr>
          <a:xfrm>
            <a:off x="8591550" y="424815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checklist kiểm tra định kỳ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F0282C-69B0-465A-AB80-3F39CD66375C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190A3"/>
                </a:solidFill>
              </a:defRPr>
            </a:pPr>
            <a:r>
              <a:rPr sz="750" b="1" i="0">
                <a:solidFill>
                  <a:srgbClr val="7190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38809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8D7E223-FBBD-4090-9BFD-C36C3D9E7486}"/>
              </a:ext>
            </a:extLst>
          </p:cNvPr>
          <p:cNvSpPr>
            <a:spLocks noGrp="1"/>
          </p:cNvSpPr>
          <p:nvPr/>
        </p:nvSpPr>
        <p:spPr>
          <a:xfrm>
            <a:off x="609600" y="255024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/ PHẠM VI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2AD5E9-ACA0-467B-89F1-A7AEE5BB6F32}"/>
              </a:ext>
            </a:extLst>
          </p:cNvPr>
          <p:cNvSpPr>
            <a:spLocks noGrp="1"/>
          </p:cNvSpPr>
          <p:nvPr/>
        </p:nvSpPr>
        <p:spPr>
          <a:xfrm>
            <a:off x="609600" y="483624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02A3A"/>
                </a:solidFill>
              </a:defRPr>
            </a:pP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vi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600" b="1" i="0" dirty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endParaRPr sz="1600" b="1" i="0" dirty="0">
              <a:solidFill>
                <a:srgbClr val="102A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364BBE-EFB3-4337-A45A-58C4D71BB98B}"/>
              </a:ext>
            </a:extLst>
          </p:cNvPr>
          <p:cNvSpPr>
            <a:spLocks noGrp="1"/>
          </p:cNvSpPr>
          <p:nvPr/>
        </p:nvSpPr>
        <p:spPr>
          <a:xfrm>
            <a:off x="11334750" y="369324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8AA0AE"/>
                </a:solidFill>
              </a:defRPr>
            </a:pPr>
            <a:r>
              <a:rPr sz="1600" b="1" i="0">
                <a:solidFill>
                  <a:srgbClr val="8AA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8FF678E-70AF-4655-8033-58AF810728B9}"/>
              </a:ext>
            </a:extLst>
          </p:cNvPr>
          <p:cNvSpPr>
            <a:spLocks noGrp="1"/>
          </p:cNvSpPr>
          <p:nvPr/>
        </p:nvSpPr>
        <p:spPr>
          <a:xfrm>
            <a:off x="609600" y="1064649"/>
            <a:ext cx="10972800" cy="0"/>
          </a:xfrm>
          <a:prstGeom prst="line">
            <a:avLst/>
          </a:prstGeom>
          <a:noFill/>
          <a:ln w="9525">
            <a:solidFill>
              <a:srgbClr val="D8E4EA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72CB26-7421-49BF-8F10-3A2E815B303B}"/>
              </a:ext>
            </a:extLst>
          </p:cNvPr>
          <p:cNvSpPr>
            <a:spLocks noGrp="1"/>
          </p:cNvSpPr>
          <p:nvPr/>
        </p:nvSpPr>
        <p:spPr>
          <a:xfrm>
            <a:off x="609600" y="1455174"/>
            <a:ext cx="33528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23724-B169-42DB-A1F9-002219231B32}"/>
              </a:ext>
            </a:extLst>
          </p:cNvPr>
          <p:cNvSpPr>
            <a:spLocks noGrp="1"/>
          </p:cNvSpPr>
          <p:nvPr/>
        </p:nvSpPr>
        <p:spPr>
          <a:xfrm>
            <a:off x="609600" y="1455174"/>
            <a:ext cx="3352800" cy="76200"/>
          </a:xfrm>
          <a:prstGeom prst="rect">
            <a:avLst/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36C09-1E48-4F44-937B-011F7BA652CA}"/>
              </a:ext>
            </a:extLst>
          </p:cNvPr>
          <p:cNvSpPr>
            <a:spLocks noGrp="1"/>
          </p:cNvSpPr>
          <p:nvPr/>
        </p:nvSpPr>
        <p:spPr>
          <a:xfrm>
            <a:off x="838200" y="1721874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HÌNH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361078-3DC4-4A6F-B989-6A0786A436AC}"/>
              </a:ext>
            </a:extLst>
          </p:cNvPr>
          <p:cNvSpPr>
            <a:spLocks noGrp="1"/>
          </p:cNvSpPr>
          <p:nvPr/>
        </p:nvSpPr>
        <p:spPr>
          <a:xfrm>
            <a:off x="838200" y="2045724"/>
            <a:ext cx="2819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IoT quy mô nhỏ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A81D95-BFC6-4D29-86A8-5407D7CE18B4}"/>
              </a:ext>
            </a:extLst>
          </p:cNvPr>
          <p:cNvSpPr>
            <a:spLocks noGrp="1"/>
          </p:cNvSpPr>
          <p:nvPr/>
        </p:nvSpPr>
        <p:spPr>
          <a:xfrm>
            <a:off x="838200" y="2712474"/>
            <a:ext cx="281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 gia đình / phòng thí nghiệm, thiết bị–gateway–cloud–ứng dụng.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57990C-C958-455C-A7C8-C0CA32C52BB8}"/>
              </a:ext>
            </a:extLst>
          </p:cNvPr>
          <p:cNvSpPr>
            <a:spLocks noGrp="1"/>
          </p:cNvSpPr>
          <p:nvPr/>
        </p:nvSpPr>
        <p:spPr>
          <a:xfrm>
            <a:off x="4267200" y="1455174"/>
            <a:ext cx="33528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B769AF-DA47-4F7C-B666-0FC6B780F967}"/>
              </a:ext>
            </a:extLst>
          </p:cNvPr>
          <p:cNvSpPr>
            <a:spLocks noGrp="1"/>
          </p:cNvSpPr>
          <p:nvPr/>
        </p:nvSpPr>
        <p:spPr>
          <a:xfrm>
            <a:off x="4267200" y="1455174"/>
            <a:ext cx="3352800" cy="76200"/>
          </a:xfrm>
          <a:prstGeom prst="rect">
            <a:avLst/>
          </a:prstGeom>
          <a:solidFill>
            <a:srgbClr val="7A67EE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C31187-2A86-45C9-B6D2-7140AD383302}"/>
              </a:ext>
            </a:extLst>
          </p:cNvPr>
          <p:cNvSpPr>
            <a:spLocks noGrp="1"/>
          </p:cNvSpPr>
          <p:nvPr/>
        </p:nvSpPr>
        <p:spPr>
          <a:xfrm>
            <a:off x="4495800" y="1721874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7A67EE"/>
                </a:solidFill>
              </a:defRPr>
            </a:pPr>
            <a:r>
              <a:rPr sz="1600" b="1" i="0">
                <a:solidFill>
                  <a:srgbClr val="7A6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2D577B-EAC4-4520-9BCF-810B57589699}"/>
              </a:ext>
            </a:extLst>
          </p:cNvPr>
          <p:cNvSpPr>
            <a:spLocks noGrp="1"/>
          </p:cNvSpPr>
          <p:nvPr/>
        </p:nvSpPr>
        <p:spPr>
          <a:xfrm>
            <a:off x="4495800" y="2045724"/>
            <a:ext cx="2819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 tính theo tài sản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7A8C52-98E8-4988-8C6F-09A335AE8897}"/>
              </a:ext>
            </a:extLst>
          </p:cNvPr>
          <p:cNvSpPr>
            <a:spLocks noGrp="1"/>
          </p:cNvSpPr>
          <p:nvPr/>
        </p:nvSpPr>
        <p:spPr>
          <a:xfrm>
            <a:off x="4495800" y="2712474"/>
            <a:ext cx="281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= Likelihood × Impact, chấm điểm trên ma trận 5×5.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B48907-DBC9-4040-8BA4-F94D487F10CC}"/>
              </a:ext>
            </a:extLst>
          </p:cNvPr>
          <p:cNvSpPr>
            <a:spLocks noGrp="1"/>
          </p:cNvSpPr>
          <p:nvPr/>
        </p:nvSpPr>
        <p:spPr>
          <a:xfrm>
            <a:off x="7924800" y="1455174"/>
            <a:ext cx="33528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CC8CB3-886E-4BBD-921E-30C97CA65C9C}"/>
              </a:ext>
            </a:extLst>
          </p:cNvPr>
          <p:cNvSpPr>
            <a:spLocks noGrp="1"/>
          </p:cNvSpPr>
          <p:nvPr/>
        </p:nvSpPr>
        <p:spPr>
          <a:xfrm>
            <a:off x="7924800" y="1455174"/>
            <a:ext cx="3352800" cy="762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67B0DF-A95D-412E-ABD1-6BA0F4FC9A9E}"/>
              </a:ext>
            </a:extLst>
          </p:cNvPr>
          <p:cNvSpPr>
            <a:spLocks noGrp="1"/>
          </p:cNvSpPr>
          <p:nvPr/>
        </p:nvSpPr>
        <p:spPr>
          <a:xfrm>
            <a:off x="8153400" y="1721874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F4B942"/>
                </a:solidFill>
              </a:defRPr>
            </a:pPr>
            <a:r>
              <a:rPr sz="1600" b="1" i="0">
                <a:solidFill>
                  <a:srgbClr val="F4B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 CHIẾU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7FD64F-098C-4BD0-A8F1-D204EAFBEE3A}"/>
              </a:ext>
            </a:extLst>
          </p:cNvPr>
          <p:cNvSpPr>
            <a:spLocks noGrp="1"/>
          </p:cNvSpPr>
          <p:nvPr/>
        </p:nvSpPr>
        <p:spPr>
          <a:xfrm>
            <a:off x="8153400" y="2045724"/>
            <a:ext cx="2819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+ NIST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8F7CAC-A399-4978-AA58-5AC4DC1A90F4}"/>
              </a:ext>
            </a:extLst>
          </p:cNvPr>
          <p:cNvSpPr>
            <a:spLocks noGrp="1"/>
          </p:cNvSpPr>
          <p:nvPr/>
        </p:nvSpPr>
        <p:spPr>
          <a:xfrm>
            <a:off x="8153400" y="2712474"/>
            <a:ext cx="281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ISVS, ISTG, IoT Project và NIST SP 800-30.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BF6EDFC-9F8B-4622-8618-8DD59BA5D4A6}"/>
              </a:ext>
            </a:extLst>
          </p:cNvPr>
          <p:cNvSpPr>
            <a:spLocks noGrp="1"/>
          </p:cNvSpPr>
          <p:nvPr/>
        </p:nvSpPr>
        <p:spPr>
          <a:xfrm>
            <a:off x="609600" y="3893574"/>
            <a:ext cx="10668000" cy="1885950"/>
          </a:xfrm>
          <a:prstGeom prst="roundRect">
            <a:avLst>
              <a:gd name="adj" fmla="val 8081"/>
            </a:avLst>
          </a:prstGeom>
          <a:solidFill>
            <a:srgbClr val="071B2C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DEC5EF-59F8-422E-9941-506A7F10C9AA}"/>
              </a:ext>
            </a:extLst>
          </p:cNvPr>
          <p:cNvSpPr>
            <a:spLocks noGrp="1"/>
          </p:cNvSpPr>
          <p:nvPr/>
        </p:nvSpPr>
        <p:spPr>
          <a:xfrm>
            <a:off x="876300" y="4160274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TẮC THỬ NGHIỆM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9D90D2-42A3-42AD-82B6-1A4B671958D3}"/>
              </a:ext>
            </a:extLst>
          </p:cNvPr>
          <p:cNvSpPr>
            <a:spLocks noGrp="1"/>
          </p:cNvSpPr>
          <p:nvPr/>
        </p:nvSpPr>
        <p:spPr>
          <a:xfrm>
            <a:off x="876300" y="4560324"/>
            <a:ext cx="3067050" cy="895350"/>
          </a:xfrm>
          <a:prstGeom prst="roundRect">
            <a:avLst>
              <a:gd name="adj" fmla="val 12766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6A77DF-5FAB-47DB-BF2B-31C8D88D15A2}"/>
              </a:ext>
            </a:extLst>
          </p:cNvPr>
          <p:cNvSpPr>
            <a:spLocks noGrp="1"/>
          </p:cNvSpPr>
          <p:nvPr/>
        </p:nvSpPr>
        <p:spPr>
          <a:xfrm>
            <a:off x="1047750" y="4731774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57BCBA-5A68-4E85-898F-D5474F4F430C}"/>
              </a:ext>
            </a:extLst>
          </p:cNvPr>
          <p:cNvSpPr>
            <a:spLocks noGrp="1"/>
          </p:cNvSpPr>
          <p:nvPr/>
        </p:nvSpPr>
        <p:spPr>
          <a:xfrm>
            <a:off x="1543050" y="4731774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 mô phỏng trong môi trường học tập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F55168-023C-49EA-B406-113D1FFF691C}"/>
              </a:ext>
            </a:extLst>
          </p:cNvPr>
          <p:cNvSpPr>
            <a:spLocks noGrp="1"/>
          </p:cNvSpPr>
          <p:nvPr/>
        </p:nvSpPr>
        <p:spPr>
          <a:xfrm>
            <a:off x="4248150" y="4560324"/>
            <a:ext cx="3067050" cy="895350"/>
          </a:xfrm>
          <a:prstGeom prst="roundRect">
            <a:avLst>
              <a:gd name="adj" fmla="val 12766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8179D9-D24D-4664-9090-211E38A9E193}"/>
              </a:ext>
            </a:extLst>
          </p:cNvPr>
          <p:cNvSpPr>
            <a:spLocks noGrp="1"/>
          </p:cNvSpPr>
          <p:nvPr/>
        </p:nvSpPr>
        <p:spPr>
          <a:xfrm>
            <a:off x="4419600" y="4731774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52EE02-05EB-422C-96A3-34A8BD09D5B0}"/>
              </a:ext>
            </a:extLst>
          </p:cNvPr>
          <p:cNvSpPr>
            <a:spLocks noGrp="1"/>
          </p:cNvSpPr>
          <p:nvPr/>
        </p:nvSpPr>
        <p:spPr>
          <a:xfrm>
            <a:off x="4914900" y="4731774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tấn công hệ thống thực tế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53DBE4-ACAB-4A39-AA89-E49B2D1D4AD6}"/>
              </a:ext>
            </a:extLst>
          </p:cNvPr>
          <p:cNvSpPr>
            <a:spLocks noGrp="1"/>
          </p:cNvSpPr>
          <p:nvPr/>
        </p:nvSpPr>
        <p:spPr>
          <a:xfrm>
            <a:off x="7620000" y="4560324"/>
            <a:ext cx="3067050" cy="895350"/>
          </a:xfrm>
          <a:prstGeom prst="roundRect">
            <a:avLst>
              <a:gd name="adj" fmla="val 12766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4BE67F-1EEA-4111-B0BA-2DCFA1186B17}"/>
              </a:ext>
            </a:extLst>
          </p:cNvPr>
          <p:cNvSpPr>
            <a:spLocks noGrp="1"/>
          </p:cNvSpPr>
          <p:nvPr/>
        </p:nvSpPr>
        <p:spPr>
          <a:xfrm>
            <a:off x="7791450" y="4731774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EACDC5-CCDE-4A40-B4A2-D21C059253C4}"/>
              </a:ext>
            </a:extLst>
          </p:cNvPr>
          <p:cNvSpPr>
            <a:spLocks noGrp="1"/>
          </p:cNvSpPr>
          <p:nvPr/>
        </p:nvSpPr>
        <p:spPr>
          <a:xfrm>
            <a:off x="8286750" y="4731774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sử dụng dữ liệu cá nhân thật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E4A947-DF93-4BA2-A42B-7B7198BB3FC8}"/>
              </a:ext>
            </a:extLst>
          </p:cNvPr>
          <p:cNvSpPr>
            <a:spLocks noGrp="1"/>
          </p:cNvSpPr>
          <p:nvPr/>
        </p:nvSpPr>
        <p:spPr>
          <a:xfrm>
            <a:off x="609600" y="6484374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8A9DAA"/>
                </a:solidFill>
              </a:defRPr>
            </a:pPr>
            <a:r>
              <a:rPr sz="1600" b="1" i="0">
                <a:solidFill>
                  <a:srgbClr val="8A9D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132716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D035AC4-51DC-4FEB-8D46-039C57C9E0F4}"/>
              </a:ext>
            </a:extLst>
          </p:cNvPr>
          <p:cNvSpPr>
            <a:spLocks noGrp="1"/>
          </p:cNvSpPr>
          <p:nvPr/>
        </p:nvSpPr>
        <p:spPr>
          <a:xfrm>
            <a:off x="560438" y="23536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/ KIẾN TRÚC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A98FF-EBFF-4DD4-AB48-D70CE7A26DF9}"/>
              </a:ext>
            </a:extLst>
          </p:cNvPr>
          <p:cNvSpPr>
            <a:spLocks noGrp="1"/>
          </p:cNvSpPr>
          <p:nvPr/>
        </p:nvSpPr>
        <p:spPr>
          <a:xfrm>
            <a:off x="560438" y="46396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 dữ liệu IoT và các ranh giới tin cậy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01955F-44A0-42FE-B738-0D956A20E9DA}"/>
              </a:ext>
            </a:extLst>
          </p:cNvPr>
          <p:cNvSpPr>
            <a:spLocks noGrp="1"/>
          </p:cNvSpPr>
          <p:nvPr/>
        </p:nvSpPr>
        <p:spPr>
          <a:xfrm>
            <a:off x="11285588" y="34966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8AA0AE"/>
                </a:solidFill>
              </a:defRPr>
            </a:pPr>
            <a:r>
              <a:rPr sz="1600" b="1" i="0">
                <a:solidFill>
                  <a:srgbClr val="8AA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42DDA7C-0D48-450A-AB24-2628ADEEAAB2}"/>
              </a:ext>
            </a:extLst>
          </p:cNvPr>
          <p:cNvSpPr>
            <a:spLocks noGrp="1"/>
          </p:cNvSpPr>
          <p:nvPr/>
        </p:nvSpPr>
        <p:spPr>
          <a:xfrm>
            <a:off x="560438" y="1044985"/>
            <a:ext cx="10972800" cy="0"/>
          </a:xfrm>
          <a:prstGeom prst="line">
            <a:avLst/>
          </a:prstGeom>
          <a:noFill/>
          <a:ln w="9525">
            <a:solidFill>
              <a:srgbClr val="D8E4EA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480943-2B0C-420F-8A4C-A45F405558E8}"/>
              </a:ext>
            </a:extLst>
          </p:cNvPr>
          <p:cNvSpPr>
            <a:spLocks noGrp="1"/>
          </p:cNvSpPr>
          <p:nvPr/>
        </p:nvSpPr>
        <p:spPr>
          <a:xfrm>
            <a:off x="408038" y="1264060"/>
            <a:ext cx="11277600" cy="47244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6527" y="1454560"/>
            <a:ext cx="7400623" cy="4343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A735BC-3BE3-4C76-A488-7D4ACEBF4F02}"/>
              </a:ext>
            </a:extLst>
          </p:cNvPr>
          <p:cNvSpPr>
            <a:spLocks noGrp="1"/>
          </p:cNvSpPr>
          <p:nvPr/>
        </p:nvSpPr>
        <p:spPr>
          <a:xfrm>
            <a:off x="636638" y="5931310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ECA57C-BDB7-4EFB-956A-FDE5C9AA3131}"/>
              </a:ext>
            </a:extLst>
          </p:cNvPr>
          <p:cNvSpPr>
            <a:spLocks noGrp="1"/>
          </p:cNvSpPr>
          <p:nvPr/>
        </p:nvSpPr>
        <p:spPr>
          <a:xfrm>
            <a:off x="712838" y="5969410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18794E"/>
                </a:solidFill>
              </a:defRPr>
            </a:pPr>
            <a:r>
              <a:rPr sz="1600" b="1" i="0">
                <a:solidFill>
                  <a:srgbClr val="187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024F4C-366D-41D1-8446-76D90963FCEA}"/>
              </a:ext>
            </a:extLst>
          </p:cNvPr>
          <p:cNvSpPr>
            <a:spLocks noGrp="1"/>
          </p:cNvSpPr>
          <p:nvPr/>
        </p:nvSpPr>
        <p:spPr>
          <a:xfrm>
            <a:off x="1779638" y="593131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E4F3FD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2DA296-21EC-40B3-B56A-AB4D4FFF04CF}"/>
              </a:ext>
            </a:extLst>
          </p:cNvPr>
          <p:cNvSpPr>
            <a:spLocks noGrp="1"/>
          </p:cNvSpPr>
          <p:nvPr/>
        </p:nvSpPr>
        <p:spPr>
          <a:xfrm>
            <a:off x="1855838" y="596941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176B9B"/>
                </a:solidFill>
              </a:defRPr>
            </a:pPr>
            <a:r>
              <a:rPr sz="1600" b="1" i="0">
                <a:solidFill>
                  <a:srgbClr val="176B9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4A8938-C1A1-4C63-A2BF-0B93F817CADB}"/>
              </a:ext>
            </a:extLst>
          </p:cNvPr>
          <p:cNvSpPr>
            <a:spLocks noGrp="1"/>
          </p:cNvSpPr>
          <p:nvPr/>
        </p:nvSpPr>
        <p:spPr>
          <a:xfrm>
            <a:off x="3017888" y="5931310"/>
            <a:ext cx="1162050" cy="266700"/>
          </a:xfrm>
          <a:prstGeom prst="roundRect">
            <a:avLst>
              <a:gd name="adj" fmla="val 50000"/>
            </a:avLst>
          </a:prstGeom>
          <a:solidFill>
            <a:srgbClr val="FFF3D5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91035-5603-44DD-BC76-FA3076A65D64}"/>
              </a:ext>
            </a:extLst>
          </p:cNvPr>
          <p:cNvSpPr>
            <a:spLocks noGrp="1"/>
          </p:cNvSpPr>
          <p:nvPr/>
        </p:nvSpPr>
        <p:spPr>
          <a:xfrm>
            <a:off x="3094088" y="5969410"/>
            <a:ext cx="1009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9B6500"/>
                </a:solidFill>
              </a:defRPr>
            </a:pPr>
            <a:r>
              <a:rPr sz="1600" b="1" i="0">
                <a:solidFill>
                  <a:srgbClr val="9B6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BFEDE2-E64B-49BA-948F-57FE3523ED24}"/>
              </a:ext>
            </a:extLst>
          </p:cNvPr>
          <p:cNvSpPr>
            <a:spLocks noGrp="1"/>
          </p:cNvSpPr>
          <p:nvPr/>
        </p:nvSpPr>
        <p:spPr>
          <a:xfrm>
            <a:off x="4275188" y="5931310"/>
            <a:ext cx="990600" cy="266700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D863C-BA5F-49CD-80CD-057B1C70CF80}"/>
              </a:ext>
            </a:extLst>
          </p:cNvPr>
          <p:cNvSpPr>
            <a:spLocks noGrp="1"/>
          </p:cNvSpPr>
          <p:nvPr/>
        </p:nvSpPr>
        <p:spPr>
          <a:xfrm>
            <a:off x="4351388" y="596941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5D45B6"/>
                </a:solidFill>
              </a:defRPr>
            </a:pPr>
            <a:r>
              <a:rPr sz="1600" b="1" i="0">
                <a:solidFill>
                  <a:srgbClr val="5D4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F126EA-D096-42CE-A2D5-0670D4091741}"/>
              </a:ext>
            </a:extLst>
          </p:cNvPr>
          <p:cNvSpPr>
            <a:spLocks noGrp="1"/>
          </p:cNvSpPr>
          <p:nvPr/>
        </p:nvSpPr>
        <p:spPr>
          <a:xfrm>
            <a:off x="5361038" y="593131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E2F7F4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6AF6F-C6D3-4D5F-89CF-41B236B8A027}"/>
              </a:ext>
            </a:extLst>
          </p:cNvPr>
          <p:cNvSpPr>
            <a:spLocks noGrp="1"/>
          </p:cNvSpPr>
          <p:nvPr/>
        </p:nvSpPr>
        <p:spPr>
          <a:xfrm>
            <a:off x="5437238" y="596941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B796E"/>
                </a:solidFill>
              </a:defRPr>
            </a:pPr>
            <a:r>
              <a:rPr sz="1600" b="1" i="0">
                <a:solidFill>
                  <a:srgbClr val="0B79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E96D31-6E80-4DCC-910C-F07062285987}"/>
              </a:ext>
            </a:extLst>
          </p:cNvPr>
          <p:cNvSpPr>
            <a:spLocks noGrp="1"/>
          </p:cNvSpPr>
          <p:nvPr/>
        </p:nvSpPr>
        <p:spPr>
          <a:xfrm>
            <a:off x="560438" y="6464710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8A9DAA"/>
                </a:solidFill>
              </a:defRPr>
            </a:pPr>
            <a:r>
              <a:rPr sz="1600" b="1" i="0">
                <a:solidFill>
                  <a:srgbClr val="8A9D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19882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E64C2E8-DA27-4BD6-BE82-941D8F1BDA6C}"/>
              </a:ext>
            </a:extLst>
          </p:cNvPr>
          <p:cNvSpPr>
            <a:spLocks noGrp="1"/>
          </p:cNvSpPr>
          <p:nvPr/>
        </p:nvSpPr>
        <p:spPr>
          <a:xfrm>
            <a:off x="560439" y="186199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/ PHƯƠNG PHÁP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5AABD-CF60-41C2-942C-EC242D54C48F}"/>
              </a:ext>
            </a:extLst>
          </p:cNvPr>
          <p:cNvSpPr>
            <a:spLocks noGrp="1"/>
          </p:cNvSpPr>
          <p:nvPr/>
        </p:nvSpPr>
        <p:spPr>
          <a:xfrm>
            <a:off x="560439" y="414799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 lý rủi ro là một vòng lặp cải tiến liên tục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04C00F-EC8C-4CFC-ADA0-03D1624BFA8C}"/>
              </a:ext>
            </a:extLst>
          </p:cNvPr>
          <p:cNvSpPr>
            <a:spLocks noGrp="1"/>
          </p:cNvSpPr>
          <p:nvPr/>
        </p:nvSpPr>
        <p:spPr>
          <a:xfrm>
            <a:off x="11285589" y="300499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8AA0AE"/>
                </a:solidFill>
              </a:defRPr>
            </a:pPr>
            <a:r>
              <a:rPr sz="1600" b="1" i="0">
                <a:solidFill>
                  <a:srgbClr val="8AA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7C01B97-2B2A-42DA-8C7C-4B14C8220EAC}"/>
              </a:ext>
            </a:extLst>
          </p:cNvPr>
          <p:cNvSpPr>
            <a:spLocks noGrp="1"/>
          </p:cNvSpPr>
          <p:nvPr/>
        </p:nvSpPr>
        <p:spPr>
          <a:xfrm>
            <a:off x="560439" y="995824"/>
            <a:ext cx="10972800" cy="0"/>
          </a:xfrm>
          <a:prstGeom prst="line">
            <a:avLst/>
          </a:prstGeom>
          <a:noFill/>
          <a:ln w="9525">
            <a:solidFill>
              <a:srgbClr val="D8E4EA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D96CD6-7049-4828-A3F3-C1BAE2BFF17F}"/>
              </a:ext>
            </a:extLst>
          </p:cNvPr>
          <p:cNvSpPr>
            <a:spLocks noGrp="1"/>
          </p:cNvSpPr>
          <p:nvPr/>
        </p:nvSpPr>
        <p:spPr>
          <a:xfrm>
            <a:off x="446139" y="1252999"/>
            <a:ext cx="6572250" cy="47625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9525">
            <a:solidFill>
              <a:srgbClr val="D8E4EA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8812" y="1367299"/>
            <a:ext cx="6046904" cy="4533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37DBA6-4E1C-44F0-BF31-0A5C8A4F715B}"/>
              </a:ext>
            </a:extLst>
          </p:cNvPr>
          <p:cNvSpPr>
            <a:spLocks noGrp="1"/>
          </p:cNvSpPr>
          <p:nvPr/>
        </p:nvSpPr>
        <p:spPr>
          <a:xfrm>
            <a:off x="7380339" y="1252999"/>
            <a:ext cx="4267200" cy="4762500"/>
          </a:xfrm>
          <a:prstGeom prst="roundRect">
            <a:avLst>
              <a:gd name="adj" fmla="val 3571"/>
            </a:avLst>
          </a:prstGeom>
          <a:solidFill>
            <a:srgbClr val="071B2C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5AC23A-EC4C-4EAE-BCD5-1AED9AB57530}"/>
              </a:ext>
            </a:extLst>
          </p:cNvPr>
          <p:cNvSpPr>
            <a:spLocks noGrp="1"/>
          </p:cNvSpPr>
          <p:nvPr/>
        </p:nvSpPr>
        <p:spPr>
          <a:xfrm>
            <a:off x="7685139" y="1628919"/>
            <a:ext cx="1905000" cy="266700"/>
          </a:xfrm>
          <a:prstGeom prst="roundRect">
            <a:avLst>
              <a:gd name="adj" fmla="val 50000"/>
            </a:avLst>
          </a:prstGeom>
          <a:solidFill>
            <a:srgbClr val="123C4B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B974B2-26C9-426A-B626-139FC1181192}"/>
              </a:ext>
            </a:extLst>
          </p:cNvPr>
          <p:cNvSpPr>
            <a:spLocks noGrp="1"/>
          </p:cNvSpPr>
          <p:nvPr/>
        </p:nvSpPr>
        <p:spPr>
          <a:xfrm>
            <a:off x="7761339" y="1595899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THỨC CHẤM ĐIỂM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BAFA5-2EBF-44C6-9620-4ACDD001EF83}"/>
              </a:ext>
            </a:extLst>
          </p:cNvPr>
          <p:cNvSpPr>
            <a:spLocks noGrp="1"/>
          </p:cNvSpPr>
          <p:nvPr/>
        </p:nvSpPr>
        <p:spPr>
          <a:xfrm>
            <a:off x="7685139" y="2072149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5EAC0A-6E11-4F5B-AC42-11614FC9EAA6}"/>
              </a:ext>
            </a:extLst>
          </p:cNvPr>
          <p:cNvSpPr>
            <a:spLocks noGrp="1"/>
          </p:cNvSpPr>
          <p:nvPr/>
        </p:nvSpPr>
        <p:spPr>
          <a:xfrm>
            <a:off x="8847189" y="2072149"/>
            <a:ext cx="28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4C5E0A-3FC2-419B-B129-864342054187}"/>
              </a:ext>
            </a:extLst>
          </p:cNvPr>
          <p:cNvSpPr>
            <a:spLocks noGrp="1"/>
          </p:cNvSpPr>
          <p:nvPr/>
        </p:nvSpPr>
        <p:spPr>
          <a:xfrm>
            <a:off x="9228189" y="2072149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 × IMPACT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BE51C9-102B-420E-88BF-EC265615AED1}"/>
              </a:ext>
            </a:extLst>
          </p:cNvPr>
          <p:cNvSpPr>
            <a:spLocks noGrp="1"/>
          </p:cNvSpPr>
          <p:nvPr/>
        </p:nvSpPr>
        <p:spPr>
          <a:xfrm>
            <a:off x="7685139" y="2567449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C6DCE5"/>
                </a:solidFill>
              </a:defRPr>
            </a:pPr>
            <a:r>
              <a:rPr sz="1600" b="0" i="0">
                <a:solidFill>
                  <a:srgbClr val="C6DC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 năng xảy ra và mức độ tác động đều chấm trên thang 1–5.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835B3F-C5D2-42DB-A25E-56CFF631F0CF}"/>
              </a:ext>
            </a:extLst>
          </p:cNvPr>
          <p:cNvSpPr>
            <a:spLocks noGrp="1"/>
          </p:cNvSpPr>
          <p:nvPr/>
        </p:nvSpPr>
        <p:spPr>
          <a:xfrm>
            <a:off x="7685139" y="3396124"/>
            <a:ext cx="895350" cy="323850"/>
          </a:xfrm>
          <a:prstGeom prst="roundRect">
            <a:avLst>
              <a:gd name="adj" fmla="val 23529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975E20-012E-4F9A-A191-5D85D8EBC240}"/>
              </a:ext>
            </a:extLst>
          </p:cNvPr>
          <p:cNvSpPr>
            <a:spLocks noGrp="1"/>
          </p:cNvSpPr>
          <p:nvPr/>
        </p:nvSpPr>
        <p:spPr>
          <a:xfrm>
            <a:off x="7685139" y="3367549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20–25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72856B-DFB7-46B5-B9FD-68C1B28977F6}"/>
              </a:ext>
            </a:extLst>
          </p:cNvPr>
          <p:cNvSpPr>
            <a:spLocks noGrp="1"/>
          </p:cNvSpPr>
          <p:nvPr/>
        </p:nvSpPr>
        <p:spPr>
          <a:xfrm>
            <a:off x="8732889" y="3377074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DCEAF0"/>
                </a:solidFill>
              </a:defRPr>
            </a:pPr>
            <a:r>
              <a:rPr sz="1600" b="1" i="0">
                <a:solidFill>
                  <a:srgbClr val="DCE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 TRỌNG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6F4B06-08F7-420F-91E1-229D66862CFF}"/>
              </a:ext>
            </a:extLst>
          </p:cNvPr>
          <p:cNvSpPr>
            <a:spLocks noGrp="1"/>
          </p:cNvSpPr>
          <p:nvPr/>
        </p:nvSpPr>
        <p:spPr>
          <a:xfrm>
            <a:off x="7685139" y="3805699"/>
            <a:ext cx="895350" cy="323850"/>
          </a:xfrm>
          <a:prstGeom prst="roundRect">
            <a:avLst>
              <a:gd name="adj" fmla="val 23529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B1B4D-0FFE-4E2B-B43A-8D4BE27A2CDD}"/>
              </a:ext>
            </a:extLst>
          </p:cNvPr>
          <p:cNvSpPr>
            <a:spLocks noGrp="1"/>
          </p:cNvSpPr>
          <p:nvPr/>
        </p:nvSpPr>
        <p:spPr>
          <a:xfrm>
            <a:off x="7685139" y="3824749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15–19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447EE2-2D55-4B27-A3F2-C5910C96ABC1}"/>
              </a:ext>
            </a:extLst>
          </p:cNvPr>
          <p:cNvSpPr>
            <a:spLocks noGrp="1"/>
          </p:cNvSpPr>
          <p:nvPr/>
        </p:nvSpPr>
        <p:spPr>
          <a:xfrm>
            <a:off x="8732889" y="3834274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DCEAF0"/>
                </a:solidFill>
              </a:defRPr>
            </a:pPr>
            <a:r>
              <a:rPr sz="1600" b="1" i="0">
                <a:solidFill>
                  <a:srgbClr val="DCE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 CAO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B95970-3089-453B-AF80-4D05E07BF194}"/>
              </a:ext>
            </a:extLst>
          </p:cNvPr>
          <p:cNvSpPr>
            <a:spLocks noGrp="1"/>
          </p:cNvSpPr>
          <p:nvPr/>
        </p:nvSpPr>
        <p:spPr>
          <a:xfrm>
            <a:off x="7685139" y="4272423"/>
            <a:ext cx="895350" cy="323850"/>
          </a:xfrm>
          <a:prstGeom prst="roundRect">
            <a:avLst>
              <a:gd name="adj" fmla="val 23529"/>
            </a:avLst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B9651-6B28-45A9-81EF-96CF7A4D69DF}"/>
              </a:ext>
            </a:extLst>
          </p:cNvPr>
          <p:cNvSpPr>
            <a:spLocks noGrp="1"/>
          </p:cNvSpPr>
          <p:nvPr/>
        </p:nvSpPr>
        <p:spPr>
          <a:xfrm>
            <a:off x="7685139" y="4281949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10–14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7DA4-588F-4C46-8591-5057910BA24D}"/>
              </a:ext>
            </a:extLst>
          </p:cNvPr>
          <p:cNvSpPr>
            <a:spLocks noGrp="1"/>
          </p:cNvSpPr>
          <p:nvPr/>
        </p:nvSpPr>
        <p:spPr>
          <a:xfrm>
            <a:off x="8732889" y="4291474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DCEAF0"/>
                </a:solidFill>
              </a:defRPr>
            </a:pPr>
            <a:r>
              <a:rPr sz="1600" b="1" i="0">
                <a:solidFill>
                  <a:srgbClr val="DCE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AB0A86-BC20-4775-8E4C-1EB14E50CDBB}"/>
              </a:ext>
            </a:extLst>
          </p:cNvPr>
          <p:cNvSpPr>
            <a:spLocks noGrp="1"/>
          </p:cNvSpPr>
          <p:nvPr/>
        </p:nvSpPr>
        <p:spPr>
          <a:xfrm>
            <a:off x="7685139" y="4681999"/>
            <a:ext cx="895350" cy="323850"/>
          </a:xfrm>
          <a:prstGeom prst="roundRect">
            <a:avLst>
              <a:gd name="adj" fmla="val 23529"/>
            </a:avLst>
          </a:prstGeom>
          <a:solidFill>
            <a:srgbClr val="45C486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781C84-807D-41CA-B8A5-709E09C0890A}"/>
              </a:ext>
            </a:extLst>
          </p:cNvPr>
          <p:cNvSpPr>
            <a:spLocks noGrp="1"/>
          </p:cNvSpPr>
          <p:nvPr/>
        </p:nvSpPr>
        <p:spPr>
          <a:xfrm>
            <a:off x="7685139" y="4739149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05–09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9B5D0C-3CE3-4D85-A23B-CC20063BFF7C}"/>
              </a:ext>
            </a:extLst>
          </p:cNvPr>
          <p:cNvSpPr>
            <a:spLocks noGrp="1"/>
          </p:cNvSpPr>
          <p:nvPr/>
        </p:nvSpPr>
        <p:spPr>
          <a:xfrm>
            <a:off x="8732889" y="4748674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DCEAF0"/>
                </a:solidFill>
              </a:defRPr>
            </a:pPr>
            <a:r>
              <a:rPr sz="1600" b="1" i="0">
                <a:solidFill>
                  <a:srgbClr val="DCE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 BÌNH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3E80F5A-ACD2-4AE4-A5ED-1DAC59B94562}"/>
              </a:ext>
            </a:extLst>
          </p:cNvPr>
          <p:cNvSpPr>
            <a:spLocks noGrp="1"/>
          </p:cNvSpPr>
          <p:nvPr/>
        </p:nvSpPr>
        <p:spPr>
          <a:xfrm>
            <a:off x="7685139" y="5139199"/>
            <a:ext cx="895350" cy="323850"/>
          </a:xfrm>
          <a:prstGeom prst="roundRect">
            <a:avLst>
              <a:gd name="adj" fmla="val 23529"/>
            </a:avLst>
          </a:prstGeom>
          <a:solidFill>
            <a:srgbClr val="57A6D8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853AF3-F405-4701-9317-626D8E76FE58}"/>
              </a:ext>
            </a:extLst>
          </p:cNvPr>
          <p:cNvSpPr>
            <a:spLocks noGrp="1"/>
          </p:cNvSpPr>
          <p:nvPr/>
        </p:nvSpPr>
        <p:spPr>
          <a:xfrm>
            <a:off x="7685139" y="5196349"/>
            <a:ext cx="895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01–04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989ED4-5E7D-4567-BBC8-9F05DB7844D8}"/>
              </a:ext>
            </a:extLst>
          </p:cNvPr>
          <p:cNvSpPr>
            <a:spLocks noGrp="1"/>
          </p:cNvSpPr>
          <p:nvPr/>
        </p:nvSpPr>
        <p:spPr>
          <a:xfrm>
            <a:off x="8732889" y="5205874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DCEAF0"/>
                </a:solidFill>
              </a:defRPr>
            </a:pPr>
            <a:r>
              <a:rPr sz="1600" b="1" i="0">
                <a:solidFill>
                  <a:srgbClr val="DCEA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9E50A0-C40B-456A-B325-B3C1B67C470B}"/>
              </a:ext>
            </a:extLst>
          </p:cNvPr>
          <p:cNvSpPr>
            <a:spLocks noGrp="1"/>
          </p:cNvSpPr>
          <p:nvPr/>
        </p:nvSpPr>
        <p:spPr>
          <a:xfrm>
            <a:off x="560439" y="6415549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8A9DAA"/>
                </a:solidFill>
              </a:defRPr>
            </a:pPr>
            <a:r>
              <a:rPr sz="1600" b="1" i="0">
                <a:solidFill>
                  <a:srgbClr val="8A9D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189364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655B7D-EE44-4A96-AAD7-601B1EDE6949}"/>
              </a:ext>
            </a:extLst>
          </p:cNvPr>
          <p:cNvSpPr>
            <a:spLocks noGrp="1"/>
          </p:cNvSpPr>
          <p:nvPr/>
        </p:nvSpPr>
        <p:spPr>
          <a:xfrm>
            <a:off x="560439" y="245192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/ KẾT QUẢ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4FD8E-4F63-4B2E-B956-18D9C36586D0}"/>
              </a:ext>
            </a:extLst>
          </p:cNvPr>
          <p:cNvSpPr>
            <a:spLocks noGrp="1"/>
          </p:cNvSpPr>
          <p:nvPr/>
        </p:nvSpPr>
        <p:spPr>
          <a:xfrm>
            <a:off x="560439" y="473792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tài sản ưu tiên cần được bảo vệ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43B3B-7330-4D20-A5F7-E91D988C8440}"/>
              </a:ext>
            </a:extLst>
          </p:cNvPr>
          <p:cNvSpPr>
            <a:spLocks noGrp="1"/>
          </p:cNvSpPr>
          <p:nvPr/>
        </p:nvSpPr>
        <p:spPr>
          <a:xfrm>
            <a:off x="11285589" y="359492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7596AA"/>
                </a:solidFill>
              </a:defRPr>
            </a:pPr>
            <a:r>
              <a:rPr sz="1600" b="1" i="0">
                <a:solidFill>
                  <a:srgbClr val="7596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19FB127-A5C8-4AF4-AF7C-7CD88C1F503C}"/>
              </a:ext>
            </a:extLst>
          </p:cNvPr>
          <p:cNvSpPr>
            <a:spLocks noGrp="1"/>
          </p:cNvSpPr>
          <p:nvPr/>
        </p:nvSpPr>
        <p:spPr>
          <a:xfrm>
            <a:off x="560439" y="1054817"/>
            <a:ext cx="10972800" cy="0"/>
          </a:xfrm>
          <a:prstGeom prst="line">
            <a:avLst/>
          </a:prstGeom>
          <a:noFill/>
          <a:ln w="9525">
            <a:solidFill>
              <a:srgbClr val="21475F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1524B2-E6EA-4B3C-A1FE-3F9B3CF20609}"/>
              </a:ext>
            </a:extLst>
          </p:cNvPr>
          <p:cNvSpPr>
            <a:spLocks noGrp="1"/>
          </p:cNvSpPr>
          <p:nvPr/>
        </p:nvSpPr>
        <p:spPr>
          <a:xfrm>
            <a:off x="560439" y="1331042"/>
            <a:ext cx="10972800" cy="3505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889" y="1321518"/>
            <a:ext cx="10801350" cy="351472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1CD964-BA2F-49C9-9162-DC144403622A}"/>
              </a:ext>
            </a:extLst>
          </p:cNvPr>
          <p:cNvSpPr>
            <a:spLocks noGrp="1"/>
          </p:cNvSpPr>
          <p:nvPr/>
        </p:nvSpPr>
        <p:spPr>
          <a:xfrm>
            <a:off x="560439" y="5102942"/>
            <a:ext cx="24765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7500A2-2504-4DB4-873A-A5938A6B2ED9}"/>
              </a:ext>
            </a:extLst>
          </p:cNvPr>
          <p:cNvSpPr>
            <a:spLocks noGrp="1"/>
          </p:cNvSpPr>
          <p:nvPr/>
        </p:nvSpPr>
        <p:spPr>
          <a:xfrm>
            <a:off x="731889" y="5226767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8EFE9D-D535-4F71-8229-725F361F95A8}"/>
              </a:ext>
            </a:extLst>
          </p:cNvPr>
          <p:cNvSpPr>
            <a:spLocks noGrp="1"/>
          </p:cNvSpPr>
          <p:nvPr/>
        </p:nvSpPr>
        <p:spPr>
          <a:xfrm>
            <a:off x="731889" y="5617292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sản mức RẤT CAO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F29563-BE2B-4F5C-B44A-EF459868D1D8}"/>
              </a:ext>
            </a:extLst>
          </p:cNvPr>
          <p:cNvSpPr>
            <a:spLocks noGrp="1"/>
          </p:cNvSpPr>
          <p:nvPr/>
        </p:nvSpPr>
        <p:spPr>
          <a:xfrm>
            <a:off x="3227439" y="5102942"/>
            <a:ext cx="24765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904877-3823-41AA-91E5-5316D70A564A}"/>
              </a:ext>
            </a:extLst>
          </p:cNvPr>
          <p:cNvSpPr>
            <a:spLocks noGrp="1"/>
          </p:cNvSpPr>
          <p:nvPr/>
        </p:nvSpPr>
        <p:spPr>
          <a:xfrm>
            <a:off x="3398889" y="5226767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F4B942"/>
                </a:solidFill>
              </a:defRPr>
            </a:pPr>
            <a:r>
              <a:rPr sz="1600" b="1" i="0">
                <a:solidFill>
                  <a:srgbClr val="F4B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B4A71-EE0D-43C9-B061-8480ABDC4006}"/>
              </a:ext>
            </a:extLst>
          </p:cNvPr>
          <p:cNvSpPr>
            <a:spLocks noGrp="1"/>
          </p:cNvSpPr>
          <p:nvPr/>
        </p:nvSpPr>
        <p:spPr>
          <a:xfrm>
            <a:off x="3398889" y="5617292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sản mức CAO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82715B-8548-4441-9FAF-62A3EB1D8AA7}"/>
              </a:ext>
            </a:extLst>
          </p:cNvPr>
          <p:cNvSpPr>
            <a:spLocks noGrp="1"/>
          </p:cNvSpPr>
          <p:nvPr/>
        </p:nvSpPr>
        <p:spPr>
          <a:xfrm>
            <a:off x="5894439" y="5102942"/>
            <a:ext cx="24765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B0AF73-FA5D-4A6E-A8A8-8E4FD8105D02}"/>
              </a:ext>
            </a:extLst>
          </p:cNvPr>
          <p:cNvSpPr>
            <a:spLocks noGrp="1"/>
          </p:cNvSpPr>
          <p:nvPr/>
        </p:nvSpPr>
        <p:spPr>
          <a:xfrm>
            <a:off x="6065889" y="5226767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• I •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B297A-330F-4235-9E12-BBEBB99C8517}"/>
              </a:ext>
            </a:extLst>
          </p:cNvPr>
          <p:cNvSpPr>
            <a:spLocks noGrp="1"/>
          </p:cNvSpPr>
          <p:nvPr/>
        </p:nvSpPr>
        <p:spPr>
          <a:xfrm>
            <a:off x="6065889" y="5617292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yêu cầu bảo mật cốt lõi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CD74EA-93F7-4C19-AD74-9E73CAB81E91}"/>
              </a:ext>
            </a:extLst>
          </p:cNvPr>
          <p:cNvSpPr>
            <a:spLocks noGrp="1"/>
          </p:cNvSpPr>
          <p:nvPr/>
        </p:nvSpPr>
        <p:spPr>
          <a:xfrm>
            <a:off x="8561439" y="5102942"/>
            <a:ext cx="29718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D4848E-4C1F-4926-84CD-22FEAAD6C2A7}"/>
              </a:ext>
            </a:extLst>
          </p:cNvPr>
          <p:cNvSpPr>
            <a:spLocks noGrp="1"/>
          </p:cNvSpPr>
          <p:nvPr/>
        </p:nvSpPr>
        <p:spPr>
          <a:xfrm>
            <a:off x="8732889" y="5226767"/>
            <a:ext cx="262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45C486"/>
                </a:solidFill>
              </a:defRPr>
            </a:pPr>
            <a:r>
              <a:rPr sz="1600" b="1" i="0">
                <a:solidFill>
                  <a:srgbClr val="45C4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AC45D7-3313-4B7D-9391-FA884D2D5716}"/>
              </a:ext>
            </a:extLst>
          </p:cNvPr>
          <p:cNvSpPr>
            <a:spLocks noGrp="1"/>
          </p:cNvSpPr>
          <p:nvPr/>
        </p:nvSpPr>
        <p:spPr>
          <a:xfrm>
            <a:off x="8732889" y="5617292"/>
            <a:ext cx="2628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chủ thể chịu trách nhiệm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D32B8E-7C61-4D90-B759-4E394EE1107C}"/>
              </a:ext>
            </a:extLst>
          </p:cNvPr>
          <p:cNvSpPr>
            <a:spLocks noGrp="1"/>
          </p:cNvSpPr>
          <p:nvPr/>
        </p:nvSpPr>
        <p:spPr>
          <a:xfrm>
            <a:off x="560439" y="6474542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190A3"/>
                </a:solidFill>
              </a:defRPr>
            </a:pPr>
            <a:r>
              <a:rPr sz="1600" b="1" i="0">
                <a:solidFill>
                  <a:srgbClr val="7190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107714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44608294-B441-44D9-B8C6-A5BE9B767E77}"/>
              </a:ext>
            </a:extLst>
          </p:cNvPr>
          <p:cNvSpPr>
            <a:spLocks noGrp="1"/>
          </p:cNvSpPr>
          <p:nvPr/>
        </p:nvSpPr>
        <p:spPr>
          <a:xfrm>
            <a:off x="589935" y="255024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/ RISK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7AF87B-2DD5-44DD-B6A2-982FA9466451}"/>
              </a:ext>
            </a:extLst>
          </p:cNvPr>
          <p:cNvSpPr>
            <a:spLocks noGrp="1"/>
          </p:cNvSpPr>
          <p:nvPr/>
        </p:nvSpPr>
        <p:spPr>
          <a:xfrm>
            <a:off x="589935" y="483624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 bộ 6 rủi ro đều nằm ở vùng ưu tiên cao nhất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1B0FEE-721B-4237-8572-E5079AC8FC02}"/>
              </a:ext>
            </a:extLst>
          </p:cNvPr>
          <p:cNvSpPr>
            <a:spLocks noGrp="1"/>
          </p:cNvSpPr>
          <p:nvPr/>
        </p:nvSpPr>
        <p:spPr>
          <a:xfrm>
            <a:off x="11315085" y="369324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7596AA"/>
                </a:solidFill>
              </a:defRPr>
            </a:pPr>
            <a:r>
              <a:rPr sz="1600" b="1" i="0">
                <a:solidFill>
                  <a:srgbClr val="7596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0E01A07-C0CC-4177-ABBC-9DA139E92453}"/>
              </a:ext>
            </a:extLst>
          </p:cNvPr>
          <p:cNvSpPr>
            <a:spLocks noGrp="1"/>
          </p:cNvSpPr>
          <p:nvPr/>
        </p:nvSpPr>
        <p:spPr>
          <a:xfrm>
            <a:off x="589935" y="1064649"/>
            <a:ext cx="10972800" cy="0"/>
          </a:xfrm>
          <a:prstGeom prst="line">
            <a:avLst/>
          </a:prstGeom>
          <a:noFill/>
          <a:ln w="9525">
            <a:solidFill>
              <a:srgbClr val="21475F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1FD3D1-7EAD-4553-925A-DAE3CF9A4DE3}"/>
              </a:ext>
            </a:extLst>
          </p:cNvPr>
          <p:cNvSpPr>
            <a:spLocks noGrp="1"/>
          </p:cNvSpPr>
          <p:nvPr/>
        </p:nvSpPr>
        <p:spPr>
          <a:xfrm>
            <a:off x="589935" y="1398024"/>
            <a:ext cx="3371850" cy="4419600"/>
          </a:xfrm>
          <a:prstGeom prst="roundRect">
            <a:avLst>
              <a:gd name="adj" fmla="val 4520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464E8-C34F-4A0D-B45F-511E04B3E147}"/>
              </a:ext>
            </a:extLst>
          </p:cNvPr>
          <p:cNvSpPr>
            <a:spLocks noGrp="1"/>
          </p:cNvSpPr>
          <p:nvPr/>
        </p:nvSpPr>
        <p:spPr>
          <a:xfrm>
            <a:off x="856635" y="1645674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BỐ MỨC ĐỘ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92FAE-59AA-415D-B62A-64A09132AF7A}"/>
              </a:ext>
            </a:extLst>
          </p:cNvPr>
          <p:cNvSpPr>
            <a:spLocks noGrp="1"/>
          </p:cNvSpPr>
          <p:nvPr/>
        </p:nvSpPr>
        <p:spPr>
          <a:xfrm>
            <a:off x="856635" y="2121924"/>
            <a:ext cx="76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 i="0">
                <a:solidFill>
                  <a:srgbClr val="F04457"/>
                </a:solidFill>
              </a:defRPr>
            </a:pPr>
            <a:r>
              <a:rPr sz="1600" b="1" i="0">
                <a:solidFill>
                  <a:srgbClr val="F0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23750-BE7B-4766-BFF5-CB4B486C2FCF}"/>
              </a:ext>
            </a:extLst>
          </p:cNvPr>
          <p:cNvSpPr>
            <a:spLocks noGrp="1"/>
          </p:cNvSpPr>
          <p:nvPr/>
        </p:nvSpPr>
        <p:spPr>
          <a:xfrm>
            <a:off x="1656735" y="2255274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 trọng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607EA4-B453-471A-ADB9-E4577206CEFF}"/>
              </a:ext>
            </a:extLst>
          </p:cNvPr>
          <p:cNvSpPr>
            <a:spLocks noGrp="1"/>
          </p:cNvSpPr>
          <p:nvPr/>
        </p:nvSpPr>
        <p:spPr>
          <a:xfrm>
            <a:off x="856635" y="2826774"/>
            <a:ext cx="2781300" cy="342900"/>
          </a:xfrm>
          <a:prstGeom prst="roundRect">
            <a:avLst>
              <a:gd name="adj" fmla="val 50000"/>
            </a:avLst>
          </a:prstGeom>
          <a:solidFill>
            <a:srgbClr val="1B40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93C601-6A8C-4BF8-8119-60955BF5BC74}"/>
              </a:ext>
            </a:extLst>
          </p:cNvPr>
          <p:cNvSpPr>
            <a:spLocks noGrp="1"/>
          </p:cNvSpPr>
          <p:nvPr/>
        </p:nvSpPr>
        <p:spPr>
          <a:xfrm>
            <a:off x="856635" y="2826774"/>
            <a:ext cx="923925" cy="342900"/>
          </a:xfrm>
          <a:prstGeom prst="roundRect">
            <a:avLst>
              <a:gd name="adj" fmla="val 50000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59CAD-8FF2-436D-A914-4EA18E2714A2}"/>
              </a:ext>
            </a:extLst>
          </p:cNvPr>
          <p:cNvSpPr>
            <a:spLocks noGrp="1"/>
          </p:cNvSpPr>
          <p:nvPr/>
        </p:nvSpPr>
        <p:spPr>
          <a:xfrm>
            <a:off x="894735" y="2902974"/>
            <a:ext cx="819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669E20-048B-4F58-AFCB-D9B0B446F3A4}"/>
              </a:ext>
            </a:extLst>
          </p:cNvPr>
          <p:cNvSpPr>
            <a:spLocks noGrp="1"/>
          </p:cNvSpPr>
          <p:nvPr/>
        </p:nvSpPr>
        <p:spPr>
          <a:xfrm>
            <a:off x="856635" y="3569724"/>
            <a:ext cx="76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 i="0">
                <a:solidFill>
                  <a:srgbClr val="FF7A59"/>
                </a:solidFill>
              </a:defRPr>
            </a:pPr>
            <a:r>
              <a:rPr sz="1600" b="1" i="0">
                <a:solidFill>
                  <a:srgbClr val="FF7A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2DB58-6809-483B-B30E-771FA5353845}"/>
              </a:ext>
            </a:extLst>
          </p:cNvPr>
          <p:cNvSpPr>
            <a:spLocks noGrp="1"/>
          </p:cNvSpPr>
          <p:nvPr/>
        </p:nvSpPr>
        <p:spPr>
          <a:xfrm>
            <a:off x="1656735" y="3703074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 cao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E92179-9725-4B52-A9D5-38251A995941}"/>
              </a:ext>
            </a:extLst>
          </p:cNvPr>
          <p:cNvSpPr>
            <a:spLocks noGrp="1"/>
          </p:cNvSpPr>
          <p:nvPr/>
        </p:nvSpPr>
        <p:spPr>
          <a:xfrm>
            <a:off x="856635" y="4274574"/>
            <a:ext cx="2781300" cy="342900"/>
          </a:xfrm>
          <a:prstGeom prst="roundRect">
            <a:avLst>
              <a:gd name="adj" fmla="val 50000"/>
            </a:avLst>
          </a:prstGeom>
          <a:solidFill>
            <a:srgbClr val="1B40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6968CC-6344-40B4-B94D-230E2142922A}"/>
              </a:ext>
            </a:extLst>
          </p:cNvPr>
          <p:cNvSpPr>
            <a:spLocks noGrp="1"/>
          </p:cNvSpPr>
          <p:nvPr/>
        </p:nvSpPr>
        <p:spPr>
          <a:xfrm>
            <a:off x="856635" y="4274574"/>
            <a:ext cx="1857375" cy="3429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E385E-DE9B-40A8-AF31-64027288C3FE}"/>
              </a:ext>
            </a:extLst>
          </p:cNvPr>
          <p:cNvSpPr>
            <a:spLocks noGrp="1"/>
          </p:cNvSpPr>
          <p:nvPr/>
        </p:nvSpPr>
        <p:spPr>
          <a:xfrm>
            <a:off x="913785" y="4350774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C4CF4-A509-45F1-8DB8-E845C97C93A4}"/>
              </a:ext>
            </a:extLst>
          </p:cNvPr>
          <p:cNvSpPr>
            <a:spLocks noGrp="1"/>
          </p:cNvSpPr>
          <p:nvPr/>
        </p:nvSpPr>
        <p:spPr>
          <a:xfrm>
            <a:off x="856635" y="4960374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BCD3DD"/>
                </a:solidFill>
              </a:defRPr>
            </a:pPr>
            <a:r>
              <a:rPr sz="1600" b="0" i="0">
                <a:solidFill>
                  <a:srgbClr val="BCD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có rủi ro ở mức Cao, Trung bình hoặc Thấp.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124F64-8894-4792-B2D8-7B96878EDBA9}"/>
              </a:ext>
            </a:extLst>
          </p:cNvPr>
          <p:cNvSpPr>
            <a:spLocks noGrp="1"/>
          </p:cNvSpPr>
          <p:nvPr/>
        </p:nvSpPr>
        <p:spPr>
          <a:xfrm>
            <a:off x="4285635" y="1398024"/>
            <a:ext cx="3409950" cy="1257300"/>
          </a:xfrm>
          <a:prstGeom prst="roundRect">
            <a:avLst>
              <a:gd name="adj" fmla="val 9091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8B11DE-45A7-4F40-BBCC-A29F9A8281B9}"/>
              </a:ext>
            </a:extLst>
          </p:cNvPr>
          <p:cNvSpPr>
            <a:spLocks noGrp="1"/>
          </p:cNvSpPr>
          <p:nvPr/>
        </p:nvSpPr>
        <p:spPr>
          <a:xfrm>
            <a:off x="4457085" y="1569474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1CDCA0-90CC-4E07-B3C6-E81C2C5BE312}"/>
              </a:ext>
            </a:extLst>
          </p:cNvPr>
          <p:cNvSpPr>
            <a:spLocks noGrp="1"/>
          </p:cNvSpPr>
          <p:nvPr/>
        </p:nvSpPr>
        <p:spPr>
          <a:xfrm>
            <a:off x="4364884" y="1531374"/>
            <a:ext cx="8763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E1BA82-F4CB-47CA-B4AE-D92267AB7956}"/>
              </a:ext>
            </a:extLst>
          </p:cNvPr>
          <p:cNvSpPr>
            <a:spLocks noGrp="1"/>
          </p:cNvSpPr>
          <p:nvPr/>
        </p:nvSpPr>
        <p:spPr>
          <a:xfrm>
            <a:off x="4457085" y="1950474"/>
            <a:ext cx="255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 chưa cập nhật firmware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FA7393-9755-4227-B5DE-485CA35A4400}"/>
              </a:ext>
            </a:extLst>
          </p:cNvPr>
          <p:cNvSpPr>
            <a:spLocks noGrp="1"/>
          </p:cNvSpPr>
          <p:nvPr/>
        </p:nvSpPr>
        <p:spPr>
          <a:xfrm>
            <a:off x="6933585" y="1645674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875" b="1" i="0">
                <a:solidFill>
                  <a:srgbClr val="F04457"/>
                </a:solidFill>
              </a:defRPr>
            </a:pPr>
            <a:r>
              <a:rPr sz="1600" b="1" i="0">
                <a:solidFill>
                  <a:srgbClr val="F0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481FB3-C178-4E3C-B3A8-46FCA5AEAED8}"/>
              </a:ext>
            </a:extLst>
          </p:cNvPr>
          <p:cNvSpPr>
            <a:spLocks noGrp="1"/>
          </p:cNvSpPr>
          <p:nvPr/>
        </p:nvSpPr>
        <p:spPr>
          <a:xfrm>
            <a:off x="4285635" y="2883924"/>
            <a:ext cx="3409950" cy="1257300"/>
          </a:xfrm>
          <a:prstGeom prst="roundRect">
            <a:avLst>
              <a:gd name="adj" fmla="val 9091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94E616-E42C-4703-879A-C50487E1414F}"/>
              </a:ext>
            </a:extLst>
          </p:cNvPr>
          <p:cNvSpPr>
            <a:spLocks noGrp="1"/>
          </p:cNvSpPr>
          <p:nvPr/>
        </p:nvSpPr>
        <p:spPr>
          <a:xfrm>
            <a:off x="4457085" y="3055374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CD571-A0AB-4B11-9004-E66DA907FADF}"/>
              </a:ext>
            </a:extLst>
          </p:cNvPr>
          <p:cNvSpPr>
            <a:spLocks noGrp="1"/>
          </p:cNvSpPr>
          <p:nvPr/>
        </p:nvSpPr>
        <p:spPr>
          <a:xfrm>
            <a:off x="4466229" y="3062994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7CC09-5EFB-4520-B2A0-9B5565F4578C}"/>
              </a:ext>
            </a:extLst>
          </p:cNvPr>
          <p:cNvSpPr>
            <a:spLocks noGrp="1"/>
          </p:cNvSpPr>
          <p:nvPr/>
        </p:nvSpPr>
        <p:spPr>
          <a:xfrm>
            <a:off x="4457085" y="3436374"/>
            <a:ext cx="255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</a:t>
            </a:r>
            <a:r>
              <a:rPr sz="16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MFA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5B4113-AA7F-4FB1-9563-485744FECE89}"/>
              </a:ext>
            </a:extLst>
          </p:cNvPr>
          <p:cNvSpPr>
            <a:spLocks noGrp="1"/>
          </p:cNvSpPr>
          <p:nvPr/>
        </p:nvSpPr>
        <p:spPr>
          <a:xfrm>
            <a:off x="6933585" y="3131574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875" b="1" i="0">
                <a:solidFill>
                  <a:srgbClr val="F04457"/>
                </a:solidFill>
              </a:defRPr>
            </a:pPr>
            <a:r>
              <a:rPr sz="1600" b="1" i="0">
                <a:solidFill>
                  <a:srgbClr val="F0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73BDD68-A10F-493A-A05A-8698F961E19B}"/>
              </a:ext>
            </a:extLst>
          </p:cNvPr>
          <p:cNvSpPr>
            <a:spLocks noGrp="1"/>
          </p:cNvSpPr>
          <p:nvPr/>
        </p:nvSpPr>
        <p:spPr>
          <a:xfrm>
            <a:off x="4285635" y="4369824"/>
            <a:ext cx="3409950" cy="1257300"/>
          </a:xfrm>
          <a:prstGeom prst="roundRect">
            <a:avLst>
              <a:gd name="adj" fmla="val 9091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ECF772C-D95A-4250-992D-7614AEE4417B}"/>
              </a:ext>
            </a:extLst>
          </p:cNvPr>
          <p:cNvSpPr>
            <a:spLocks noGrp="1"/>
          </p:cNvSpPr>
          <p:nvPr/>
        </p:nvSpPr>
        <p:spPr>
          <a:xfrm>
            <a:off x="4457085" y="4541274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7B1A37-951C-4C10-9C65-1304A13F9E2B}"/>
              </a:ext>
            </a:extLst>
          </p:cNvPr>
          <p:cNvSpPr>
            <a:spLocks noGrp="1"/>
          </p:cNvSpPr>
          <p:nvPr/>
        </p:nvSpPr>
        <p:spPr>
          <a:xfrm>
            <a:off x="4374790" y="4508889"/>
            <a:ext cx="828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195BE9-BDA6-44F7-93C0-4E7785A7ED9C}"/>
              </a:ext>
            </a:extLst>
          </p:cNvPr>
          <p:cNvSpPr>
            <a:spLocks noGrp="1"/>
          </p:cNvSpPr>
          <p:nvPr/>
        </p:nvSpPr>
        <p:spPr>
          <a:xfrm>
            <a:off x="4457085" y="4922274"/>
            <a:ext cx="255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còn mật khẩu mặc định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53FEF6-0AA3-4EC7-A552-3E7A32D6307A}"/>
              </a:ext>
            </a:extLst>
          </p:cNvPr>
          <p:cNvSpPr>
            <a:spLocks noGrp="1"/>
          </p:cNvSpPr>
          <p:nvPr/>
        </p:nvSpPr>
        <p:spPr>
          <a:xfrm>
            <a:off x="6933585" y="4617474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875" b="1" i="0">
                <a:solidFill>
                  <a:srgbClr val="FF7A59"/>
                </a:solidFill>
              </a:defRPr>
            </a:pPr>
            <a:r>
              <a:rPr sz="1600" b="1" i="0">
                <a:solidFill>
                  <a:srgbClr val="FF7A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DA5EEF2-918E-456B-A473-39C63D4FA319}"/>
              </a:ext>
            </a:extLst>
          </p:cNvPr>
          <p:cNvSpPr>
            <a:spLocks noGrp="1"/>
          </p:cNvSpPr>
          <p:nvPr/>
        </p:nvSpPr>
        <p:spPr>
          <a:xfrm>
            <a:off x="7962285" y="1398024"/>
            <a:ext cx="3409950" cy="1257300"/>
          </a:xfrm>
          <a:prstGeom prst="roundRect">
            <a:avLst>
              <a:gd name="adj" fmla="val 9091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FFDA91F-F168-4FD2-A25B-4F9A2B88F56F}"/>
              </a:ext>
            </a:extLst>
          </p:cNvPr>
          <p:cNvSpPr>
            <a:spLocks noGrp="1"/>
          </p:cNvSpPr>
          <p:nvPr/>
        </p:nvSpPr>
        <p:spPr>
          <a:xfrm>
            <a:off x="8133735" y="1569474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D7255B-A8CB-4DD5-B1C6-97EB2DD534AE}"/>
              </a:ext>
            </a:extLst>
          </p:cNvPr>
          <p:cNvSpPr>
            <a:spLocks noGrp="1"/>
          </p:cNvSpPr>
          <p:nvPr/>
        </p:nvSpPr>
        <p:spPr>
          <a:xfrm>
            <a:off x="8129925" y="1547567"/>
            <a:ext cx="723900" cy="236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528B2A-0DD3-4787-8D61-0299913329BA}"/>
              </a:ext>
            </a:extLst>
          </p:cNvPr>
          <p:cNvSpPr>
            <a:spLocks noGrp="1"/>
          </p:cNvSpPr>
          <p:nvPr/>
        </p:nvSpPr>
        <p:spPr>
          <a:xfrm>
            <a:off x="8133735" y="1950474"/>
            <a:ext cx="255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Firmware lỗi thời / có CVE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D6DC82-E2B2-400F-9D68-E5FF1A4A7930}"/>
              </a:ext>
            </a:extLst>
          </p:cNvPr>
          <p:cNvSpPr>
            <a:spLocks noGrp="1"/>
          </p:cNvSpPr>
          <p:nvPr/>
        </p:nvSpPr>
        <p:spPr>
          <a:xfrm>
            <a:off x="10610235" y="1645674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875" b="1" i="0">
                <a:solidFill>
                  <a:srgbClr val="FF7A59"/>
                </a:solidFill>
              </a:defRPr>
            </a:pPr>
            <a:r>
              <a:rPr sz="1600" b="1" i="0">
                <a:solidFill>
                  <a:srgbClr val="FF7A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068F6A0-3540-4469-8072-60481D2A0A8A}"/>
              </a:ext>
            </a:extLst>
          </p:cNvPr>
          <p:cNvSpPr>
            <a:spLocks noGrp="1"/>
          </p:cNvSpPr>
          <p:nvPr/>
        </p:nvSpPr>
        <p:spPr>
          <a:xfrm>
            <a:off x="7962285" y="2883924"/>
            <a:ext cx="3409950" cy="1257300"/>
          </a:xfrm>
          <a:prstGeom prst="roundRect">
            <a:avLst>
              <a:gd name="adj" fmla="val 9091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3C56AD4-F72A-4678-A918-EB552C48895E}"/>
              </a:ext>
            </a:extLst>
          </p:cNvPr>
          <p:cNvSpPr>
            <a:spLocks noGrp="1"/>
          </p:cNvSpPr>
          <p:nvPr/>
        </p:nvSpPr>
        <p:spPr>
          <a:xfrm>
            <a:off x="8133735" y="3055374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54F168-CE43-4FBA-84FF-D447A4A22ABD}"/>
              </a:ext>
            </a:extLst>
          </p:cNvPr>
          <p:cNvSpPr>
            <a:spLocks noGrp="1"/>
          </p:cNvSpPr>
          <p:nvPr/>
        </p:nvSpPr>
        <p:spPr>
          <a:xfrm>
            <a:off x="8129925" y="3024894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2B34E1-D6B1-40FF-AEA7-AF6FD194455E}"/>
              </a:ext>
            </a:extLst>
          </p:cNvPr>
          <p:cNvSpPr>
            <a:spLocks noGrp="1"/>
          </p:cNvSpPr>
          <p:nvPr/>
        </p:nvSpPr>
        <p:spPr>
          <a:xfrm>
            <a:off x="8133735" y="3436374"/>
            <a:ext cx="255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 cập từ xa thiếu VPN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8CF745-3ECC-4C81-BAB7-9369B4E0CC99}"/>
              </a:ext>
            </a:extLst>
          </p:cNvPr>
          <p:cNvSpPr>
            <a:spLocks noGrp="1"/>
          </p:cNvSpPr>
          <p:nvPr/>
        </p:nvSpPr>
        <p:spPr>
          <a:xfrm>
            <a:off x="10610235" y="3131574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875" b="1" i="0">
                <a:solidFill>
                  <a:srgbClr val="FF7A59"/>
                </a:solidFill>
              </a:defRPr>
            </a:pPr>
            <a:r>
              <a:rPr sz="1600" b="1" i="0">
                <a:solidFill>
                  <a:srgbClr val="FF7A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1567F7C-4169-4F45-BF0B-8B6BAC9DA14B}"/>
              </a:ext>
            </a:extLst>
          </p:cNvPr>
          <p:cNvSpPr>
            <a:spLocks noGrp="1"/>
          </p:cNvSpPr>
          <p:nvPr/>
        </p:nvSpPr>
        <p:spPr>
          <a:xfrm>
            <a:off x="7962285" y="4369824"/>
            <a:ext cx="3409950" cy="1257300"/>
          </a:xfrm>
          <a:prstGeom prst="roundRect">
            <a:avLst>
              <a:gd name="adj" fmla="val 9091"/>
            </a:avLst>
          </a:prstGeom>
          <a:solidFill>
            <a:srgbClr val="102F46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370B408-1D70-4A82-93D5-9AE0C122CECD}"/>
              </a:ext>
            </a:extLst>
          </p:cNvPr>
          <p:cNvSpPr>
            <a:spLocks noGrp="1"/>
          </p:cNvSpPr>
          <p:nvPr/>
        </p:nvSpPr>
        <p:spPr>
          <a:xfrm>
            <a:off x="8133735" y="4541274"/>
            <a:ext cx="628650" cy="2667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D3EBF6-0E5B-406B-88BA-907397C4C1A4}"/>
              </a:ext>
            </a:extLst>
          </p:cNvPr>
          <p:cNvSpPr>
            <a:spLocks noGrp="1"/>
          </p:cNvSpPr>
          <p:nvPr/>
        </p:nvSpPr>
        <p:spPr>
          <a:xfrm>
            <a:off x="8086110" y="4503174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40F772-D9F5-46CB-AB28-2957ED13AC25}"/>
              </a:ext>
            </a:extLst>
          </p:cNvPr>
          <p:cNvSpPr>
            <a:spLocks noGrp="1"/>
          </p:cNvSpPr>
          <p:nvPr/>
        </p:nvSpPr>
        <p:spPr>
          <a:xfrm>
            <a:off x="8133735" y="4922274"/>
            <a:ext cx="2552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 với khóa thông minh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053B41-8B19-491A-BA01-5F8AB0DB72ED}"/>
              </a:ext>
            </a:extLst>
          </p:cNvPr>
          <p:cNvSpPr>
            <a:spLocks noGrp="1"/>
          </p:cNvSpPr>
          <p:nvPr/>
        </p:nvSpPr>
        <p:spPr>
          <a:xfrm>
            <a:off x="10610235" y="4617474"/>
            <a:ext cx="590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875" b="1" i="0">
                <a:solidFill>
                  <a:srgbClr val="FF7A59"/>
                </a:solidFill>
              </a:defRPr>
            </a:pPr>
            <a:r>
              <a:rPr sz="1600" b="1" i="0">
                <a:solidFill>
                  <a:srgbClr val="FF7A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1391938-9B80-4612-9965-3CFE9BB30C61}"/>
              </a:ext>
            </a:extLst>
          </p:cNvPr>
          <p:cNvSpPr>
            <a:spLocks noGrp="1"/>
          </p:cNvSpPr>
          <p:nvPr/>
        </p:nvSpPr>
        <p:spPr>
          <a:xfrm>
            <a:off x="589935" y="6484374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190A3"/>
                </a:solidFill>
              </a:defRPr>
            </a:pPr>
            <a:r>
              <a:rPr sz="1600" b="1" i="0">
                <a:solidFill>
                  <a:srgbClr val="7190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175193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43BF1B4-9576-4AA1-AB48-01FF23901C6E}"/>
              </a:ext>
            </a:extLst>
          </p:cNvPr>
          <p:cNvSpPr>
            <a:spLocks noGrp="1"/>
          </p:cNvSpPr>
          <p:nvPr/>
        </p:nvSpPr>
        <p:spPr>
          <a:xfrm>
            <a:off x="609600" y="245192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18C7B3"/>
                </a:solidFill>
              </a:defRPr>
            </a:pPr>
            <a:r>
              <a:rPr sz="1600" b="1" i="0" dirty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 / MA TRẬN 5×5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73D4CB-B644-40EF-8B80-E0F4E7C89E37}"/>
              </a:ext>
            </a:extLst>
          </p:cNvPr>
          <p:cNvSpPr>
            <a:spLocks noGrp="1"/>
          </p:cNvSpPr>
          <p:nvPr/>
        </p:nvSpPr>
        <p:spPr>
          <a:xfrm>
            <a:off x="609600" y="473792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Rủi ro tập trung ở góc trên phải của ma trận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899B5-30C0-4150-BD81-591E343E346A}"/>
              </a:ext>
            </a:extLst>
          </p:cNvPr>
          <p:cNvSpPr>
            <a:spLocks noGrp="1"/>
          </p:cNvSpPr>
          <p:nvPr/>
        </p:nvSpPr>
        <p:spPr>
          <a:xfrm>
            <a:off x="11334750" y="359492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8AA0AE"/>
                </a:solidFill>
              </a:defRPr>
            </a:pPr>
            <a:r>
              <a:rPr sz="1600" b="1" i="0">
                <a:solidFill>
                  <a:srgbClr val="8AA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E1F6FC4-7ED8-45B0-9F3C-CE654E55D8AC}"/>
              </a:ext>
            </a:extLst>
          </p:cNvPr>
          <p:cNvSpPr>
            <a:spLocks noGrp="1"/>
          </p:cNvSpPr>
          <p:nvPr/>
        </p:nvSpPr>
        <p:spPr>
          <a:xfrm>
            <a:off x="609600" y="1054817"/>
            <a:ext cx="10972800" cy="0"/>
          </a:xfrm>
          <a:prstGeom prst="line">
            <a:avLst/>
          </a:prstGeom>
          <a:noFill/>
          <a:ln w="9525">
            <a:solidFill>
              <a:srgbClr val="D8E4EA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453BA3-F87A-4073-9379-675EBB40E514}"/>
              </a:ext>
            </a:extLst>
          </p:cNvPr>
          <p:cNvSpPr>
            <a:spLocks noGrp="1"/>
          </p:cNvSpPr>
          <p:nvPr/>
        </p:nvSpPr>
        <p:spPr>
          <a:xfrm>
            <a:off x="514350" y="1311992"/>
            <a:ext cx="1116330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2075818"/>
            <a:ext cx="10629900" cy="294909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63FD3A-F123-43EB-85DC-1295AE2E0C4F}"/>
              </a:ext>
            </a:extLst>
          </p:cNvPr>
          <p:cNvSpPr>
            <a:spLocks noGrp="1"/>
          </p:cNvSpPr>
          <p:nvPr/>
        </p:nvSpPr>
        <p:spPr>
          <a:xfrm>
            <a:off x="742950" y="5903042"/>
            <a:ext cx="1028700" cy="571500"/>
          </a:xfrm>
          <a:prstGeom prst="roundRect">
            <a:avLst>
              <a:gd name="adj" fmla="val 50000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FAF05F-8ED4-4D36-8CDB-69E8D3AFB889}"/>
              </a:ext>
            </a:extLst>
          </p:cNvPr>
          <p:cNvSpPr>
            <a:spLocks noGrp="1"/>
          </p:cNvSpPr>
          <p:nvPr/>
        </p:nvSpPr>
        <p:spPr>
          <a:xfrm>
            <a:off x="800100" y="5888755"/>
            <a:ext cx="914400" cy="1047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 TIÊN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894974-A278-4960-86D1-555DADD3056B}"/>
              </a:ext>
            </a:extLst>
          </p:cNvPr>
          <p:cNvSpPr>
            <a:spLocks noGrp="1"/>
          </p:cNvSpPr>
          <p:nvPr/>
        </p:nvSpPr>
        <p:spPr>
          <a:xfrm>
            <a:off x="1924050" y="5941142"/>
            <a:ext cx="893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R-01 và R-02 cần xử lý trước; các rủi ro còn lại vẫn phải triển khai kiểm soát ngay.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FD933-9F8A-47F7-8FFD-94452E926FD8}"/>
              </a:ext>
            </a:extLst>
          </p:cNvPr>
          <p:cNvSpPr>
            <a:spLocks noGrp="1"/>
          </p:cNvSpPr>
          <p:nvPr/>
        </p:nvSpPr>
        <p:spPr>
          <a:xfrm>
            <a:off x="609600" y="6474542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8A9DAA"/>
                </a:solidFill>
              </a:defRPr>
            </a:pPr>
            <a:r>
              <a:rPr sz="1600" b="1" i="0">
                <a:solidFill>
                  <a:srgbClr val="8A9D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20033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7952680C-EAD5-46BA-A95B-103F3A18A33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 / KẾ HOẠCH XỬ LÝ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29BB83-F4D2-4BD3-AE31-2244DB93611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 rủi ro Critical: xử lý ngay tại điểm kiểm soát chính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DC409-EEB7-4630-A011-DD2F82A31A0C}"/>
              </a:ext>
            </a:extLst>
          </p:cNvPr>
          <p:cNvSpPr>
            <a:spLocks noGrp="1"/>
          </p:cNvSpPr>
          <p:nvPr/>
        </p:nvSpPr>
        <p:spPr>
          <a:xfrm>
            <a:off x="11334750" y="43815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7596AA"/>
                </a:solidFill>
              </a:defRPr>
            </a:pPr>
            <a:r>
              <a:rPr sz="1600" b="1" i="0">
                <a:solidFill>
                  <a:srgbClr val="7596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77AD95A-2402-4B25-9F3C-8428F6AB0CA1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0"/>
          </a:xfrm>
          <a:prstGeom prst="line">
            <a:avLst/>
          </a:prstGeom>
          <a:noFill/>
          <a:ln w="9525">
            <a:solidFill>
              <a:srgbClr val="21475F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6BF214-5261-45FD-94E2-5C953FE53D45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181600" cy="4476750"/>
          </a:xfrm>
          <a:prstGeom prst="roundRect">
            <a:avLst>
              <a:gd name="adj" fmla="val 3404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9A8900-06EC-4BF2-9924-AA59193B3166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F74B5-7C7B-4874-9B23-AB7628564D9A}"/>
              </a:ext>
            </a:extLst>
          </p:cNvPr>
          <p:cNvSpPr>
            <a:spLocks noGrp="1"/>
          </p:cNvSpPr>
          <p:nvPr/>
        </p:nvSpPr>
        <p:spPr>
          <a:xfrm>
            <a:off x="771525" y="1668780"/>
            <a:ext cx="857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B0BF02-F57B-445D-8357-29F20BFB2892}"/>
              </a:ext>
            </a:extLst>
          </p:cNvPr>
          <p:cNvSpPr>
            <a:spLocks noGrp="1"/>
          </p:cNvSpPr>
          <p:nvPr/>
        </p:nvSpPr>
        <p:spPr>
          <a:xfrm>
            <a:off x="4857750" y="165735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2625" b="1" i="0">
                <a:solidFill>
                  <a:srgbClr val="F04457"/>
                </a:solidFill>
              </a:defRPr>
            </a:pPr>
            <a:r>
              <a:rPr sz="1600" b="1" i="0">
                <a:solidFill>
                  <a:srgbClr val="F0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CEAD70-938A-43DA-8DC8-015EB9324400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9B953-8A2B-402C-A58B-4403EFB7D6DC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Firmware không được cập nhật định kỳ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538C7C-CD14-4AEA-89D0-DDE7CFCF2537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7FA9B9"/>
                </a:solidFill>
              </a:defRPr>
            </a:pPr>
            <a:r>
              <a:rPr sz="1600" b="1" i="0">
                <a:solidFill>
                  <a:srgbClr val="7FA9B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ĐỀ XUẤT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D93D2E-C995-4162-908E-D89E05168707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068C3C-9C29-4ED6-85D2-928569BB9F43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6D9609-9E2C-4C36-86F6-AEABC055FD00}"/>
              </a:ext>
            </a:extLst>
          </p:cNvPr>
          <p:cNvSpPr>
            <a:spLocks noGrp="1"/>
          </p:cNvSpPr>
          <p:nvPr/>
        </p:nvSpPr>
        <p:spPr>
          <a:xfrm>
            <a:off x="1219200" y="36957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lịch cập nhật firmware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46C5BB-8115-427A-BF00-33E32B124E46}"/>
              </a:ext>
            </a:extLst>
          </p:cNvPr>
          <p:cNvSpPr>
            <a:spLocks noGrp="1"/>
          </p:cNvSpPr>
          <p:nvPr/>
        </p:nvSpPr>
        <p:spPr>
          <a:xfrm>
            <a:off x="857250" y="41338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25FAE9-7923-43EB-A4D1-CCF48F60F4D5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42439-251A-4192-8603-2C821866D2F7}"/>
              </a:ext>
            </a:extLst>
          </p:cNvPr>
          <p:cNvSpPr>
            <a:spLocks noGrp="1"/>
          </p:cNvSpPr>
          <p:nvPr/>
        </p:nvSpPr>
        <p:spPr>
          <a:xfrm>
            <a:off x="1219200" y="41529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 dõi security advisory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B0DD86-0630-42F8-9127-AE4B522B536B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20D410-8183-4C1D-9BCA-087DABE031B0}"/>
              </a:ext>
            </a:extLst>
          </p:cNvPr>
          <p:cNvSpPr>
            <a:spLocks noGrp="1"/>
          </p:cNvSpPr>
          <p:nvPr/>
        </p:nvSpPr>
        <p:spPr>
          <a:xfrm>
            <a:off x="857250" y="46101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DCF2C-8929-407F-8659-5490098F3BDA}"/>
              </a:ext>
            </a:extLst>
          </p:cNvPr>
          <p:cNvSpPr>
            <a:spLocks noGrp="1"/>
          </p:cNvSpPr>
          <p:nvPr/>
        </p:nvSpPr>
        <p:spPr>
          <a:xfrm>
            <a:off x="1219200" y="46101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trước khi triển khai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6A2CC7-CD43-4460-98F4-FC893BE8FE6F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FA9B9"/>
                </a:solidFill>
              </a:defRPr>
            </a:pPr>
            <a:r>
              <a:rPr sz="1600" b="1" i="0">
                <a:solidFill>
                  <a:srgbClr val="7FA9B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RỦI RO CÒN LẠI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9C3043-5BBA-4AAE-AC5C-76E1C4A4E45C}"/>
              </a:ext>
            </a:extLst>
          </p:cNvPr>
          <p:cNvSpPr>
            <a:spLocks noGrp="1"/>
          </p:cNvSpPr>
          <p:nvPr/>
        </p:nvSpPr>
        <p:spPr>
          <a:xfrm>
            <a:off x="2324100" y="524002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1B152-3842-46F8-92E4-07E1EA9D0D36}"/>
              </a:ext>
            </a:extLst>
          </p:cNvPr>
          <p:cNvSpPr>
            <a:spLocks noGrp="1"/>
          </p:cNvSpPr>
          <p:nvPr/>
        </p:nvSpPr>
        <p:spPr>
          <a:xfrm>
            <a:off x="2400300" y="52197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F39443-3140-403F-93B8-A2F2C9734850}"/>
              </a:ext>
            </a:extLst>
          </p:cNvPr>
          <p:cNvSpPr>
            <a:spLocks noGrp="1"/>
          </p:cNvSpPr>
          <p:nvPr/>
        </p:nvSpPr>
        <p:spPr>
          <a:xfrm>
            <a:off x="6134100" y="1466850"/>
            <a:ext cx="5181600" cy="4476750"/>
          </a:xfrm>
          <a:prstGeom prst="roundRect">
            <a:avLst>
              <a:gd name="adj" fmla="val 3404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561F1E-16DE-4C62-910C-0E6616910620}"/>
              </a:ext>
            </a:extLst>
          </p:cNvPr>
          <p:cNvSpPr>
            <a:spLocks noGrp="1"/>
          </p:cNvSpPr>
          <p:nvPr/>
        </p:nvSpPr>
        <p:spPr>
          <a:xfrm>
            <a:off x="6381750" y="17145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04457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2AE35F-4B5A-4615-9012-ED695FD90D51}"/>
              </a:ext>
            </a:extLst>
          </p:cNvPr>
          <p:cNvSpPr>
            <a:spLocks noGrp="1"/>
          </p:cNvSpPr>
          <p:nvPr/>
        </p:nvSpPr>
        <p:spPr>
          <a:xfrm>
            <a:off x="6273165" y="167640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563D29-D6F7-4BB8-BD69-287420E84E7C}"/>
              </a:ext>
            </a:extLst>
          </p:cNvPr>
          <p:cNvSpPr>
            <a:spLocks noGrp="1"/>
          </p:cNvSpPr>
          <p:nvPr/>
        </p:nvSpPr>
        <p:spPr>
          <a:xfrm>
            <a:off x="10382250" y="1657350"/>
            <a:ext cx="647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2625" b="1" i="0">
                <a:solidFill>
                  <a:srgbClr val="F04457"/>
                </a:solidFill>
              </a:defRPr>
            </a:pPr>
            <a:r>
              <a:rPr sz="1600" b="1" i="0">
                <a:solidFill>
                  <a:srgbClr val="F0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036F15-5657-40E3-9CEF-8392FF532283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KHOẢN QUẢN TRỊ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902E38-3852-4FD2-8B11-EDF03010BE9D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 khẩu yếu và chưa áp dụng MFA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CA24BE-1000-4203-9409-0C42182BB50D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7FA9B9"/>
                </a:solidFill>
              </a:defRPr>
            </a:pPr>
            <a:r>
              <a:rPr sz="1600" b="1" i="0">
                <a:solidFill>
                  <a:srgbClr val="7FA9B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ĐỀ XUẤT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F0F15CB-18FF-45CE-9586-1EEF6E7DBD11}"/>
              </a:ext>
            </a:extLst>
          </p:cNvPr>
          <p:cNvSpPr>
            <a:spLocks noGrp="1"/>
          </p:cNvSpPr>
          <p:nvPr/>
        </p:nvSpPr>
        <p:spPr>
          <a:xfrm>
            <a:off x="6381750" y="36766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9F343E-A396-4C7F-AD88-AED087EBC403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8AAEF5-E22A-45AC-B68F-20E517C8FC77}"/>
              </a:ext>
            </a:extLst>
          </p:cNvPr>
          <p:cNvSpPr>
            <a:spLocks noGrp="1"/>
          </p:cNvSpPr>
          <p:nvPr/>
        </p:nvSpPr>
        <p:spPr>
          <a:xfrm>
            <a:off x="6743700" y="36957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 khẩu mạnh và duy nhất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06CB60D-576E-40A0-90E4-6228FC1056C3}"/>
              </a:ext>
            </a:extLst>
          </p:cNvPr>
          <p:cNvSpPr>
            <a:spLocks noGrp="1"/>
          </p:cNvSpPr>
          <p:nvPr/>
        </p:nvSpPr>
        <p:spPr>
          <a:xfrm>
            <a:off x="6381750" y="41338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7C7B29-28A0-44C7-8B79-3A2A56D2590C}"/>
              </a:ext>
            </a:extLst>
          </p:cNvPr>
          <p:cNvSpPr>
            <a:spLocks noGrp="1"/>
          </p:cNvSpPr>
          <p:nvPr/>
        </p:nvSpPr>
        <p:spPr>
          <a:xfrm>
            <a:off x="6381750" y="41529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2C047-8673-49DB-B4D5-8FBB70DF3F22}"/>
              </a:ext>
            </a:extLst>
          </p:cNvPr>
          <p:cNvSpPr>
            <a:spLocks noGrp="1"/>
          </p:cNvSpPr>
          <p:nvPr/>
        </p:nvSpPr>
        <p:spPr>
          <a:xfrm>
            <a:off x="6743700" y="41529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buộc MFA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8EA29D3-C4DA-4EE3-91C9-3CEF21554426}"/>
              </a:ext>
            </a:extLst>
          </p:cNvPr>
          <p:cNvSpPr>
            <a:spLocks noGrp="1"/>
          </p:cNvSpPr>
          <p:nvPr/>
        </p:nvSpPr>
        <p:spPr>
          <a:xfrm>
            <a:off x="6381750" y="45910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89EB35-0583-4A0D-B48A-ECAF212CAA27}"/>
              </a:ext>
            </a:extLst>
          </p:cNvPr>
          <p:cNvSpPr>
            <a:spLocks noGrp="1"/>
          </p:cNvSpPr>
          <p:nvPr/>
        </p:nvSpPr>
        <p:spPr>
          <a:xfrm>
            <a:off x="6381750" y="4610100"/>
            <a:ext cx="247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0C4ABD-53CC-4717-A74B-9DF416A4773C}"/>
              </a:ext>
            </a:extLst>
          </p:cNvPr>
          <p:cNvSpPr>
            <a:spLocks noGrp="1"/>
          </p:cNvSpPr>
          <p:nvPr/>
        </p:nvSpPr>
        <p:spPr>
          <a:xfrm>
            <a:off x="6743700" y="46101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Khóa sau nhiều lần đăng nhập sai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6DE27A-A9A8-4137-AB8F-D0D871AF03E5}"/>
              </a:ext>
            </a:extLst>
          </p:cNvPr>
          <p:cNvSpPr>
            <a:spLocks noGrp="1"/>
          </p:cNvSpPr>
          <p:nvPr/>
        </p:nvSpPr>
        <p:spPr>
          <a:xfrm>
            <a:off x="6381750" y="52578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FA9B9"/>
                </a:solidFill>
              </a:defRPr>
            </a:pPr>
            <a:r>
              <a:rPr sz="1600" b="1" i="0">
                <a:solidFill>
                  <a:srgbClr val="7FA9B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RỦI RO CÒN LẠI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0BF2E82-6062-4E1A-BA80-0495AE24E905}"/>
              </a:ext>
            </a:extLst>
          </p:cNvPr>
          <p:cNvSpPr>
            <a:spLocks noGrp="1"/>
          </p:cNvSpPr>
          <p:nvPr/>
        </p:nvSpPr>
        <p:spPr>
          <a:xfrm>
            <a:off x="7848600" y="52768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45C486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959AFF-0036-45FB-BEB4-4FB119FD8030}"/>
              </a:ext>
            </a:extLst>
          </p:cNvPr>
          <p:cNvSpPr>
            <a:spLocks noGrp="1"/>
          </p:cNvSpPr>
          <p:nvPr/>
        </p:nvSpPr>
        <p:spPr>
          <a:xfrm>
            <a:off x="7924800" y="521970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DF1F67-939C-4E72-BAA8-20336013320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190A3"/>
                </a:solidFill>
              </a:defRPr>
            </a:pPr>
            <a:r>
              <a:rPr sz="1600" b="1" i="0">
                <a:solidFill>
                  <a:srgbClr val="7190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693745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FD481A-F7BB-4975-BA39-13B2A19E4333}"/>
              </a:ext>
            </a:extLst>
          </p:cNvPr>
          <p:cNvSpPr>
            <a:spLocks noGrp="1"/>
          </p:cNvSpPr>
          <p:nvPr/>
        </p:nvSpPr>
        <p:spPr>
          <a:xfrm>
            <a:off x="548640" y="18161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 / KẾ HOẠCH XỬ LÝ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6AD6E4-0320-491B-925E-1BD91F36A7B7}"/>
              </a:ext>
            </a:extLst>
          </p:cNvPr>
          <p:cNvSpPr>
            <a:spLocks noGrp="1"/>
          </p:cNvSpPr>
          <p:nvPr/>
        </p:nvSpPr>
        <p:spPr>
          <a:xfrm>
            <a:off x="548640" y="41021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Bốn rủi ro Very High: giảm bề mặt tấn công theo lớp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8C558-0E20-486D-A610-4CB96CAE969B}"/>
              </a:ext>
            </a:extLst>
          </p:cNvPr>
          <p:cNvSpPr>
            <a:spLocks noGrp="1"/>
          </p:cNvSpPr>
          <p:nvPr/>
        </p:nvSpPr>
        <p:spPr>
          <a:xfrm>
            <a:off x="11273790" y="295910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8AA0AE"/>
                </a:solidFill>
              </a:defRPr>
            </a:pPr>
            <a:r>
              <a:rPr sz="1600" b="1" i="0">
                <a:solidFill>
                  <a:srgbClr val="8AA0A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B3C28C0-C9BA-40F6-B5F0-FE1F0857CA76}"/>
              </a:ext>
            </a:extLst>
          </p:cNvPr>
          <p:cNvSpPr>
            <a:spLocks noGrp="1"/>
          </p:cNvSpPr>
          <p:nvPr/>
        </p:nvSpPr>
        <p:spPr>
          <a:xfrm>
            <a:off x="548640" y="991235"/>
            <a:ext cx="10972800" cy="0"/>
          </a:xfrm>
          <a:prstGeom prst="line">
            <a:avLst/>
          </a:prstGeom>
          <a:noFill/>
          <a:ln w="9525">
            <a:solidFill>
              <a:srgbClr val="D8E4EA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F161B6-CE9B-4AAA-9E2C-753D43B015C9}"/>
              </a:ext>
            </a:extLst>
          </p:cNvPr>
          <p:cNvSpPr>
            <a:spLocks noGrp="1"/>
          </p:cNvSpPr>
          <p:nvPr/>
        </p:nvSpPr>
        <p:spPr>
          <a:xfrm>
            <a:off x="548640" y="1305560"/>
            <a:ext cx="518160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29733-9627-4970-845B-508EB5481702}"/>
              </a:ext>
            </a:extLst>
          </p:cNvPr>
          <p:cNvSpPr>
            <a:spLocks noGrp="1"/>
          </p:cNvSpPr>
          <p:nvPr/>
        </p:nvSpPr>
        <p:spPr>
          <a:xfrm>
            <a:off x="548640" y="1305560"/>
            <a:ext cx="85725" cy="1943100"/>
          </a:xfrm>
          <a:prstGeom prst="rect">
            <a:avLst/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4F507A-2CB0-4740-9C1F-5BEF46AAA884}"/>
              </a:ext>
            </a:extLst>
          </p:cNvPr>
          <p:cNvSpPr>
            <a:spLocks noGrp="1"/>
          </p:cNvSpPr>
          <p:nvPr/>
        </p:nvSpPr>
        <p:spPr>
          <a:xfrm>
            <a:off x="815340" y="153416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75EF56-D5F1-42AE-9200-9C34E05790CA}"/>
              </a:ext>
            </a:extLst>
          </p:cNvPr>
          <p:cNvSpPr>
            <a:spLocks noGrp="1"/>
          </p:cNvSpPr>
          <p:nvPr/>
        </p:nvSpPr>
        <p:spPr>
          <a:xfrm>
            <a:off x="727710" y="1511936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BD4A0-DA0C-421F-8943-0964D5522DC9}"/>
              </a:ext>
            </a:extLst>
          </p:cNvPr>
          <p:cNvSpPr>
            <a:spLocks noGrp="1"/>
          </p:cNvSpPr>
          <p:nvPr/>
        </p:nvSpPr>
        <p:spPr>
          <a:xfrm>
            <a:off x="1653540" y="159131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84F3F-539E-49E2-8B5A-CA89E0050284}"/>
              </a:ext>
            </a:extLst>
          </p:cNvPr>
          <p:cNvSpPr>
            <a:spLocks noGrp="1"/>
          </p:cNvSpPr>
          <p:nvPr/>
        </p:nvSpPr>
        <p:spPr>
          <a:xfrm>
            <a:off x="815340" y="2048510"/>
            <a:ext cx="440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 khẩu mặc định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6CF8AA-24C0-42FB-9850-819C03ED6136}"/>
              </a:ext>
            </a:extLst>
          </p:cNvPr>
          <p:cNvSpPr>
            <a:spLocks noGrp="1"/>
          </p:cNvSpPr>
          <p:nvPr/>
        </p:nvSpPr>
        <p:spPr>
          <a:xfrm>
            <a:off x="815340" y="2562860"/>
            <a:ext cx="440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 mật khẩu • tắt tài khoản mặc định • VLAN riêng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14D41E-1139-4519-955C-9F030A516037}"/>
              </a:ext>
            </a:extLst>
          </p:cNvPr>
          <p:cNvSpPr>
            <a:spLocks noGrp="1"/>
          </p:cNvSpPr>
          <p:nvPr/>
        </p:nvSpPr>
        <p:spPr>
          <a:xfrm>
            <a:off x="6035040" y="1305560"/>
            <a:ext cx="518160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CD69E8-7EC7-4ABE-9446-DA0099C46D63}"/>
              </a:ext>
            </a:extLst>
          </p:cNvPr>
          <p:cNvSpPr>
            <a:spLocks noGrp="1"/>
          </p:cNvSpPr>
          <p:nvPr/>
        </p:nvSpPr>
        <p:spPr>
          <a:xfrm>
            <a:off x="6035040" y="1305560"/>
            <a:ext cx="85725" cy="1943100"/>
          </a:xfrm>
          <a:prstGeom prst="rect">
            <a:avLst/>
          </a:prstGeom>
          <a:solidFill>
            <a:srgbClr val="7A67EE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490B7A-FB38-4F38-A389-E74AFF929F77}"/>
              </a:ext>
            </a:extLst>
          </p:cNvPr>
          <p:cNvSpPr>
            <a:spLocks noGrp="1"/>
          </p:cNvSpPr>
          <p:nvPr/>
        </p:nvSpPr>
        <p:spPr>
          <a:xfrm>
            <a:off x="6301740" y="153416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7A67EE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72DE8B-8397-450F-AE98-E53FADFF5DBA}"/>
              </a:ext>
            </a:extLst>
          </p:cNvPr>
          <p:cNvSpPr>
            <a:spLocks noGrp="1"/>
          </p:cNvSpPr>
          <p:nvPr/>
        </p:nvSpPr>
        <p:spPr>
          <a:xfrm>
            <a:off x="6320790" y="1511936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69BA45-7527-4C26-B44E-D364F586FCA3}"/>
              </a:ext>
            </a:extLst>
          </p:cNvPr>
          <p:cNvSpPr>
            <a:spLocks noGrp="1"/>
          </p:cNvSpPr>
          <p:nvPr/>
        </p:nvSpPr>
        <p:spPr>
          <a:xfrm>
            <a:off x="7139940" y="159131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7A67EE"/>
                </a:solidFill>
              </a:defRPr>
            </a:pPr>
            <a:r>
              <a:rPr sz="1600" b="1" i="0">
                <a:solidFill>
                  <a:srgbClr val="7A6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FIRMWARE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A913A-7B6C-4F79-8122-B206915600AD}"/>
              </a:ext>
            </a:extLst>
          </p:cNvPr>
          <p:cNvSpPr>
            <a:spLocks noGrp="1"/>
          </p:cNvSpPr>
          <p:nvPr/>
        </p:nvSpPr>
        <p:spPr>
          <a:xfrm>
            <a:off x="6301740" y="2048510"/>
            <a:ext cx="440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bị lỗi thời / CVE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26E496-A5FC-4559-A5FB-1444F4E4A8F1}"/>
              </a:ext>
            </a:extLst>
          </p:cNvPr>
          <p:cNvSpPr>
            <a:spLocks noGrp="1"/>
          </p:cNvSpPr>
          <p:nvPr/>
        </p:nvSpPr>
        <p:spPr>
          <a:xfrm>
            <a:off x="6301740" y="2562860"/>
            <a:ext cx="440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 thiết bị hết hỗ trợ • quét lỗ hổng • vá ngay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26A3BB-06AA-4435-A0A2-91687E02F7F7}"/>
              </a:ext>
            </a:extLst>
          </p:cNvPr>
          <p:cNvSpPr>
            <a:spLocks noGrp="1"/>
          </p:cNvSpPr>
          <p:nvPr/>
        </p:nvSpPr>
        <p:spPr>
          <a:xfrm>
            <a:off x="548640" y="3553460"/>
            <a:ext cx="518160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B7F52B-AD0C-457E-841A-CF4ECC9C12E7}"/>
              </a:ext>
            </a:extLst>
          </p:cNvPr>
          <p:cNvSpPr>
            <a:spLocks noGrp="1"/>
          </p:cNvSpPr>
          <p:nvPr/>
        </p:nvSpPr>
        <p:spPr>
          <a:xfrm>
            <a:off x="548640" y="3553460"/>
            <a:ext cx="85725" cy="1943100"/>
          </a:xfrm>
          <a:prstGeom prst="rect">
            <a:avLst/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E3D25E-5F9B-41DB-9A52-A3F12C960BBC}"/>
              </a:ext>
            </a:extLst>
          </p:cNvPr>
          <p:cNvSpPr>
            <a:spLocks noGrp="1"/>
          </p:cNvSpPr>
          <p:nvPr/>
        </p:nvSpPr>
        <p:spPr>
          <a:xfrm>
            <a:off x="815340" y="378206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3FF695-8B34-44E4-9F49-8C3E8395011F}"/>
              </a:ext>
            </a:extLst>
          </p:cNvPr>
          <p:cNvSpPr>
            <a:spLocks noGrp="1"/>
          </p:cNvSpPr>
          <p:nvPr/>
        </p:nvSpPr>
        <p:spPr>
          <a:xfrm>
            <a:off x="777240" y="377253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21C6E8-CB10-4E8C-9096-ECA6BA31C3CD}"/>
              </a:ext>
            </a:extLst>
          </p:cNvPr>
          <p:cNvSpPr>
            <a:spLocks noGrp="1"/>
          </p:cNvSpPr>
          <p:nvPr/>
        </p:nvSpPr>
        <p:spPr>
          <a:xfrm>
            <a:off x="1653540" y="383921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FF7A59"/>
                </a:solidFill>
              </a:defRPr>
            </a:pPr>
            <a:r>
              <a:rPr sz="1600" b="1" i="0">
                <a:solidFill>
                  <a:srgbClr val="FF7A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/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926A28-A071-43E9-B371-262AC5E3EE5C}"/>
              </a:ext>
            </a:extLst>
          </p:cNvPr>
          <p:cNvSpPr>
            <a:spLocks noGrp="1"/>
          </p:cNvSpPr>
          <p:nvPr/>
        </p:nvSpPr>
        <p:spPr>
          <a:xfrm>
            <a:off x="815340" y="4296410"/>
            <a:ext cx="440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 cập từ xa mở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399516-B8F7-4C1A-9610-D0D0F278AC97}"/>
              </a:ext>
            </a:extLst>
          </p:cNvPr>
          <p:cNvSpPr>
            <a:spLocks noGrp="1"/>
          </p:cNvSpPr>
          <p:nvPr/>
        </p:nvSpPr>
        <p:spPr>
          <a:xfrm>
            <a:off x="815340" y="4810760"/>
            <a:ext cx="440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VPN • IP allowlist • MFA • giám sát log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0CD5E35-8123-4DE9-9009-BFFFC4DFE2D3}"/>
              </a:ext>
            </a:extLst>
          </p:cNvPr>
          <p:cNvSpPr>
            <a:spLocks noGrp="1"/>
          </p:cNvSpPr>
          <p:nvPr/>
        </p:nvSpPr>
        <p:spPr>
          <a:xfrm>
            <a:off x="6035040" y="3553460"/>
            <a:ext cx="518160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BB0DBE-4583-491A-9A37-A45B4C8A84F0}"/>
              </a:ext>
            </a:extLst>
          </p:cNvPr>
          <p:cNvSpPr>
            <a:spLocks noGrp="1"/>
          </p:cNvSpPr>
          <p:nvPr/>
        </p:nvSpPr>
        <p:spPr>
          <a:xfrm>
            <a:off x="6035040" y="3553460"/>
            <a:ext cx="85725" cy="1943100"/>
          </a:xfrm>
          <a:prstGeom prst="rect">
            <a:avLst/>
          </a:prstGeom>
          <a:solidFill>
            <a:srgbClr val="45C486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CA7C987-DCDD-41EB-A282-6CE413FC67BB}"/>
              </a:ext>
            </a:extLst>
          </p:cNvPr>
          <p:cNvSpPr>
            <a:spLocks noGrp="1"/>
          </p:cNvSpPr>
          <p:nvPr/>
        </p:nvSpPr>
        <p:spPr>
          <a:xfrm>
            <a:off x="6301740" y="3782060"/>
            <a:ext cx="666750" cy="266700"/>
          </a:xfrm>
          <a:prstGeom prst="roundRect">
            <a:avLst>
              <a:gd name="adj" fmla="val 50000"/>
            </a:avLst>
          </a:prstGeom>
          <a:solidFill>
            <a:srgbClr val="45C486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3D89C9-9903-4773-A19A-69D0205207BD}"/>
              </a:ext>
            </a:extLst>
          </p:cNvPr>
          <p:cNvSpPr>
            <a:spLocks noGrp="1"/>
          </p:cNvSpPr>
          <p:nvPr/>
        </p:nvSpPr>
        <p:spPr>
          <a:xfrm>
            <a:off x="6301740" y="3744595"/>
            <a:ext cx="666750" cy="237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R-06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7DD44B-CFD7-41EF-B08D-D67015D42F70}"/>
              </a:ext>
            </a:extLst>
          </p:cNvPr>
          <p:cNvSpPr>
            <a:spLocks noGrp="1"/>
          </p:cNvSpPr>
          <p:nvPr/>
        </p:nvSpPr>
        <p:spPr>
          <a:xfrm>
            <a:off x="7139940" y="383921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45C486"/>
                </a:solidFill>
              </a:defRPr>
            </a:pPr>
            <a:r>
              <a:rPr sz="1600" b="1" i="0">
                <a:solidFill>
                  <a:srgbClr val="45C48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KHÓA THÔNG MINH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98F58-9EB1-4D65-9CB9-17A6284CE363}"/>
              </a:ext>
            </a:extLst>
          </p:cNvPr>
          <p:cNvSpPr>
            <a:spLocks noGrp="1"/>
          </p:cNvSpPr>
          <p:nvPr/>
        </p:nvSpPr>
        <p:spPr>
          <a:xfrm>
            <a:off x="6301740" y="4296410"/>
            <a:ext cx="4400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 i="0">
                <a:solidFill>
                  <a:srgbClr val="102A3A"/>
                </a:solidFill>
              </a:defRPr>
            </a:pPr>
            <a:r>
              <a:rPr sz="1600" b="1" i="0">
                <a:solidFill>
                  <a:srgbClr val="102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B79385-58FA-4F64-B35D-54CA215CE848}"/>
              </a:ext>
            </a:extLst>
          </p:cNvPr>
          <p:cNvSpPr>
            <a:spLocks noGrp="1"/>
          </p:cNvSpPr>
          <p:nvPr/>
        </p:nvSpPr>
        <p:spPr>
          <a:xfrm>
            <a:off x="6301740" y="4810760"/>
            <a:ext cx="44005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607888"/>
                </a:solidFill>
              </a:defRPr>
            </a:pPr>
            <a:r>
              <a:rPr sz="1600" b="0" i="0">
                <a:solidFill>
                  <a:srgbClr val="6078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 hóa • rolling code • cảnh báo bất thường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B0CE1D8-C27F-4C0D-B8FB-E33948016FB3}"/>
              </a:ext>
            </a:extLst>
          </p:cNvPr>
          <p:cNvSpPr>
            <a:spLocks noGrp="1"/>
          </p:cNvSpPr>
          <p:nvPr/>
        </p:nvSpPr>
        <p:spPr>
          <a:xfrm>
            <a:off x="548640" y="5915659"/>
            <a:ext cx="10668000" cy="414017"/>
          </a:xfrm>
          <a:prstGeom prst="roundRect">
            <a:avLst>
              <a:gd name="adj" fmla="val 50000"/>
            </a:avLst>
          </a:prstGeom>
          <a:solidFill>
            <a:srgbClr val="071B2C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77D65-339E-4C87-8C2C-18C998C40B67}"/>
              </a:ext>
            </a:extLst>
          </p:cNvPr>
          <p:cNvSpPr>
            <a:spLocks noGrp="1"/>
          </p:cNvSpPr>
          <p:nvPr/>
        </p:nvSpPr>
        <p:spPr>
          <a:xfrm>
            <a:off x="548640" y="597281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SAU XỬ LÝ: đưa cả 4 rủi ro về mức THẤP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CD0B3F-EE8C-4544-BB81-002133535E23}"/>
              </a:ext>
            </a:extLst>
          </p:cNvPr>
          <p:cNvSpPr>
            <a:spLocks noGrp="1"/>
          </p:cNvSpPr>
          <p:nvPr/>
        </p:nvSpPr>
        <p:spPr>
          <a:xfrm>
            <a:off x="548640" y="6410960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8A9DAA"/>
                </a:solidFill>
              </a:defRPr>
            </a:pPr>
            <a:r>
              <a:rPr sz="1600" b="1" i="0">
                <a:solidFill>
                  <a:srgbClr val="8A9D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10405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904CEE6-1D76-4307-8542-CBE23FFFAD78}"/>
              </a:ext>
            </a:extLst>
          </p:cNvPr>
          <p:cNvSpPr>
            <a:spLocks noGrp="1"/>
          </p:cNvSpPr>
          <p:nvPr/>
        </p:nvSpPr>
        <p:spPr>
          <a:xfrm>
            <a:off x="629264" y="166534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/ VẬN HÀNH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0008B-E877-422A-B33E-38D1880638B3}"/>
              </a:ext>
            </a:extLst>
          </p:cNvPr>
          <p:cNvSpPr>
            <a:spLocks noGrp="1"/>
          </p:cNvSpPr>
          <p:nvPr/>
        </p:nvSpPr>
        <p:spPr>
          <a:xfrm>
            <a:off x="629264" y="395134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 bảo mật định kỳ: 6 kiểm tra, 3 nhịp thực hiện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10B728-FA23-4443-AA92-6CC6A1F51094}"/>
              </a:ext>
            </a:extLst>
          </p:cNvPr>
          <p:cNvSpPr>
            <a:spLocks noGrp="1"/>
          </p:cNvSpPr>
          <p:nvPr/>
        </p:nvSpPr>
        <p:spPr>
          <a:xfrm>
            <a:off x="11354414" y="280834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1" i="0">
                <a:solidFill>
                  <a:srgbClr val="7596AA"/>
                </a:solidFill>
              </a:defRPr>
            </a:pPr>
            <a:r>
              <a:rPr sz="1600" b="1" i="0">
                <a:solidFill>
                  <a:srgbClr val="7596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D19B309-4977-4E2F-9577-262B21BFF9DD}"/>
              </a:ext>
            </a:extLst>
          </p:cNvPr>
          <p:cNvSpPr>
            <a:spLocks noGrp="1"/>
          </p:cNvSpPr>
          <p:nvPr/>
        </p:nvSpPr>
        <p:spPr>
          <a:xfrm>
            <a:off x="629264" y="976159"/>
            <a:ext cx="10972800" cy="0"/>
          </a:xfrm>
          <a:prstGeom prst="line">
            <a:avLst/>
          </a:prstGeom>
          <a:noFill/>
          <a:ln w="9525">
            <a:solidFill>
              <a:srgbClr val="21475F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3489DE-E14C-42FB-BE3C-8E99E3FD6B73}"/>
              </a:ext>
            </a:extLst>
          </p:cNvPr>
          <p:cNvSpPr>
            <a:spLocks noGrp="1"/>
          </p:cNvSpPr>
          <p:nvPr/>
        </p:nvSpPr>
        <p:spPr>
          <a:xfrm>
            <a:off x="629264" y="1404784"/>
            <a:ext cx="3352800" cy="4210050"/>
          </a:xfrm>
          <a:prstGeom prst="roundRect">
            <a:avLst>
              <a:gd name="adj" fmla="val 4545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5CC1CA-5691-4DDF-A971-CEC1099F338C}"/>
              </a:ext>
            </a:extLst>
          </p:cNvPr>
          <p:cNvSpPr>
            <a:spLocks noGrp="1"/>
          </p:cNvSpPr>
          <p:nvPr/>
        </p:nvSpPr>
        <p:spPr>
          <a:xfrm>
            <a:off x="857864" y="1633384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792067-9016-420A-9E25-8DB989001D21}"/>
              </a:ext>
            </a:extLst>
          </p:cNvPr>
          <p:cNvSpPr>
            <a:spLocks noGrp="1"/>
          </p:cNvSpPr>
          <p:nvPr/>
        </p:nvSpPr>
        <p:spPr>
          <a:xfrm>
            <a:off x="1696064" y="1766734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 TUẦN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0095A67-75A3-429F-B1E1-64C3B1D960F4}"/>
              </a:ext>
            </a:extLst>
          </p:cNvPr>
          <p:cNvSpPr>
            <a:spLocks noGrp="1"/>
          </p:cNvSpPr>
          <p:nvPr/>
        </p:nvSpPr>
        <p:spPr>
          <a:xfrm>
            <a:off x="857864" y="2300134"/>
            <a:ext cx="2895600" cy="0"/>
          </a:xfrm>
          <a:prstGeom prst="line">
            <a:avLst/>
          </a:prstGeom>
          <a:noFill/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4390E7-2BBD-4E95-9394-F2A3DFA18FA5}"/>
              </a:ext>
            </a:extLst>
          </p:cNvPr>
          <p:cNvSpPr>
            <a:spLocks noGrp="1"/>
          </p:cNvSpPr>
          <p:nvPr/>
        </p:nvSpPr>
        <p:spPr>
          <a:xfrm>
            <a:off x="857864" y="2604934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6C40FB-4F0B-4186-B12D-024E39638F35}"/>
              </a:ext>
            </a:extLst>
          </p:cNvPr>
          <p:cNvSpPr>
            <a:spLocks noGrp="1"/>
          </p:cNvSpPr>
          <p:nvPr/>
        </p:nvSpPr>
        <p:spPr>
          <a:xfrm>
            <a:off x="857864" y="2700184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5CFFE-B1B8-497D-93A9-0EBFE74D017C}"/>
              </a:ext>
            </a:extLst>
          </p:cNvPr>
          <p:cNvSpPr>
            <a:spLocks noGrp="1"/>
          </p:cNvSpPr>
          <p:nvPr/>
        </p:nvSpPr>
        <p:spPr>
          <a:xfrm>
            <a:off x="1410314" y="2662084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 khẩu mặc định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9AC564-07BC-4AA4-A991-2668D1AF96F5}"/>
              </a:ext>
            </a:extLst>
          </p:cNvPr>
          <p:cNvSpPr>
            <a:spLocks noGrp="1"/>
          </p:cNvSpPr>
          <p:nvPr/>
        </p:nvSpPr>
        <p:spPr>
          <a:xfrm>
            <a:off x="857864" y="3481234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5C75B-3B3D-4061-8734-3BAC0CD53A8D}"/>
              </a:ext>
            </a:extLst>
          </p:cNvPr>
          <p:cNvSpPr>
            <a:spLocks noGrp="1"/>
          </p:cNvSpPr>
          <p:nvPr/>
        </p:nvSpPr>
        <p:spPr>
          <a:xfrm>
            <a:off x="857864" y="3576484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63AE5-3C3D-4864-8905-FE1AE7E61A32}"/>
              </a:ext>
            </a:extLst>
          </p:cNvPr>
          <p:cNvSpPr>
            <a:spLocks noGrp="1"/>
          </p:cNvSpPr>
          <p:nvPr/>
        </p:nvSpPr>
        <p:spPr>
          <a:xfrm>
            <a:off x="1410314" y="3538384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truy cập bất thường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A3DFFE-E8FD-4FCC-87FE-E3719899385F}"/>
              </a:ext>
            </a:extLst>
          </p:cNvPr>
          <p:cNvSpPr>
            <a:spLocks noGrp="1"/>
          </p:cNvSpPr>
          <p:nvPr/>
        </p:nvSpPr>
        <p:spPr>
          <a:xfrm>
            <a:off x="857864" y="4605184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BCD3DD"/>
                </a:solidFill>
              </a:defRPr>
            </a:pPr>
            <a:r>
              <a:rPr sz="1600" b="0" i="0">
                <a:solidFill>
                  <a:srgbClr val="BCD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hiện sớm dấu hiệu chiếm quyền.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78A89D-85A9-4A89-A04A-A627F5B5A16D}"/>
              </a:ext>
            </a:extLst>
          </p:cNvPr>
          <p:cNvSpPr>
            <a:spLocks noGrp="1"/>
          </p:cNvSpPr>
          <p:nvPr/>
        </p:nvSpPr>
        <p:spPr>
          <a:xfrm>
            <a:off x="4286864" y="1404784"/>
            <a:ext cx="3352800" cy="4210050"/>
          </a:xfrm>
          <a:prstGeom prst="roundRect">
            <a:avLst>
              <a:gd name="adj" fmla="val 4545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F6EDF5-9DB7-4716-A244-FC9E9C3C962C}"/>
              </a:ext>
            </a:extLst>
          </p:cNvPr>
          <p:cNvSpPr>
            <a:spLocks noGrp="1"/>
          </p:cNvSpPr>
          <p:nvPr/>
        </p:nvSpPr>
        <p:spPr>
          <a:xfrm>
            <a:off x="4515464" y="1633384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F4B942"/>
                </a:solidFill>
              </a:defRPr>
            </a:pPr>
            <a:r>
              <a:rPr sz="1600" b="1" i="0">
                <a:solidFill>
                  <a:srgbClr val="F4B9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F12BFA-0C8E-436C-8925-995F70D7C4BC}"/>
              </a:ext>
            </a:extLst>
          </p:cNvPr>
          <p:cNvSpPr>
            <a:spLocks noGrp="1"/>
          </p:cNvSpPr>
          <p:nvPr/>
        </p:nvSpPr>
        <p:spPr>
          <a:xfrm>
            <a:off x="5353664" y="1766734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 THÁNG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6B98E93-E5FE-402B-A4B5-C6170F80DDD0}"/>
              </a:ext>
            </a:extLst>
          </p:cNvPr>
          <p:cNvSpPr>
            <a:spLocks noGrp="1"/>
          </p:cNvSpPr>
          <p:nvPr/>
        </p:nvSpPr>
        <p:spPr>
          <a:xfrm>
            <a:off x="4515464" y="2300134"/>
            <a:ext cx="2895600" cy="0"/>
          </a:xfrm>
          <a:prstGeom prst="line">
            <a:avLst/>
          </a:prstGeom>
          <a:noFill/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0DA32A-7EAE-4BA9-A969-EA324747CA9E}"/>
              </a:ext>
            </a:extLst>
          </p:cNvPr>
          <p:cNvSpPr>
            <a:spLocks noGrp="1"/>
          </p:cNvSpPr>
          <p:nvPr/>
        </p:nvSpPr>
        <p:spPr>
          <a:xfrm>
            <a:off x="4515464" y="2604934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7ED7C1-D6A3-4AD9-B412-6540212B1DF2}"/>
              </a:ext>
            </a:extLst>
          </p:cNvPr>
          <p:cNvSpPr>
            <a:spLocks noGrp="1"/>
          </p:cNvSpPr>
          <p:nvPr/>
        </p:nvSpPr>
        <p:spPr>
          <a:xfrm>
            <a:off x="4515464" y="2700184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1F34D5-9BC2-4B1D-88E6-B937E49BA368}"/>
              </a:ext>
            </a:extLst>
          </p:cNvPr>
          <p:cNvSpPr>
            <a:spLocks noGrp="1"/>
          </p:cNvSpPr>
          <p:nvPr/>
        </p:nvSpPr>
        <p:spPr>
          <a:xfrm>
            <a:off x="5067914" y="2662084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Phiên bản firmware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A08EC17-5098-4006-A9B8-82EB8FE8E1E3}"/>
              </a:ext>
            </a:extLst>
          </p:cNvPr>
          <p:cNvSpPr>
            <a:spLocks noGrp="1"/>
          </p:cNvSpPr>
          <p:nvPr/>
        </p:nvSpPr>
        <p:spPr>
          <a:xfrm>
            <a:off x="4515464" y="3481234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86EED3-7A07-41AC-9CBA-7336DCF8C4DD}"/>
              </a:ext>
            </a:extLst>
          </p:cNvPr>
          <p:cNvSpPr>
            <a:spLocks noGrp="1"/>
          </p:cNvSpPr>
          <p:nvPr/>
        </p:nvSpPr>
        <p:spPr>
          <a:xfrm>
            <a:off x="4515464" y="3576484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91ADEC-14A0-4141-A66C-EEBF879666D2}"/>
              </a:ext>
            </a:extLst>
          </p:cNvPr>
          <p:cNvSpPr>
            <a:spLocks noGrp="1"/>
          </p:cNvSpPr>
          <p:nvPr/>
        </p:nvSpPr>
        <p:spPr>
          <a:xfrm>
            <a:off x="5067914" y="3538384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hình MFA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0AE5B5-7D9D-4EC7-A643-E4185DC9E024}"/>
              </a:ext>
            </a:extLst>
          </p:cNvPr>
          <p:cNvSpPr>
            <a:spLocks noGrp="1"/>
          </p:cNvSpPr>
          <p:nvPr/>
        </p:nvSpPr>
        <p:spPr>
          <a:xfrm>
            <a:off x="4515464" y="4605184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BCD3DD"/>
                </a:solidFill>
              </a:defRPr>
            </a:pPr>
            <a:r>
              <a:rPr sz="1600" b="0" i="0">
                <a:solidFill>
                  <a:srgbClr val="BCD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 trì bản vá và xác thực mạnh.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79A794-304C-47F0-B610-89E6967A8886}"/>
              </a:ext>
            </a:extLst>
          </p:cNvPr>
          <p:cNvSpPr>
            <a:spLocks noGrp="1"/>
          </p:cNvSpPr>
          <p:nvPr/>
        </p:nvSpPr>
        <p:spPr>
          <a:xfrm>
            <a:off x="7944464" y="1404784"/>
            <a:ext cx="3352800" cy="4210050"/>
          </a:xfrm>
          <a:prstGeom prst="roundRect">
            <a:avLst>
              <a:gd name="adj" fmla="val 4545"/>
            </a:avLst>
          </a:prstGeom>
          <a:solidFill>
            <a:srgbClr val="0E3049"/>
          </a:solidFill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E81A13-2FD6-4895-A807-43D7BB60932B}"/>
              </a:ext>
            </a:extLst>
          </p:cNvPr>
          <p:cNvSpPr>
            <a:spLocks noGrp="1"/>
          </p:cNvSpPr>
          <p:nvPr/>
        </p:nvSpPr>
        <p:spPr>
          <a:xfrm>
            <a:off x="8173064" y="1633384"/>
            <a:ext cx="685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 i="0">
                <a:solidFill>
                  <a:srgbClr val="7A67EE"/>
                </a:solidFill>
              </a:defRPr>
            </a:pPr>
            <a:r>
              <a:rPr sz="1600" b="1" i="0">
                <a:solidFill>
                  <a:srgbClr val="7A67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9F7F64-7D04-4509-A884-DA199A4587A1}"/>
              </a:ext>
            </a:extLst>
          </p:cNvPr>
          <p:cNvSpPr>
            <a:spLocks noGrp="1"/>
          </p:cNvSpPr>
          <p:nvPr/>
        </p:nvSpPr>
        <p:spPr>
          <a:xfrm>
            <a:off x="9011264" y="1766734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 QUÝ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549A360-F902-48AB-BA2F-72E522DDE90A}"/>
              </a:ext>
            </a:extLst>
          </p:cNvPr>
          <p:cNvSpPr>
            <a:spLocks noGrp="1"/>
          </p:cNvSpPr>
          <p:nvPr/>
        </p:nvSpPr>
        <p:spPr>
          <a:xfrm>
            <a:off x="8173064" y="2300134"/>
            <a:ext cx="2895600" cy="0"/>
          </a:xfrm>
          <a:prstGeom prst="line">
            <a:avLst/>
          </a:prstGeom>
          <a:noFill/>
          <a:ln w="9525">
            <a:solidFill>
              <a:srgbClr val="214A61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03691C-0CB5-4A59-AAB8-2D623D93C305}"/>
              </a:ext>
            </a:extLst>
          </p:cNvPr>
          <p:cNvSpPr>
            <a:spLocks noGrp="1"/>
          </p:cNvSpPr>
          <p:nvPr/>
        </p:nvSpPr>
        <p:spPr>
          <a:xfrm>
            <a:off x="8173064" y="2604934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7A67EE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CBB801-A2CA-4C8C-A3FF-E0C02C631D8F}"/>
              </a:ext>
            </a:extLst>
          </p:cNvPr>
          <p:cNvSpPr>
            <a:spLocks noGrp="1"/>
          </p:cNvSpPr>
          <p:nvPr/>
        </p:nvSpPr>
        <p:spPr>
          <a:xfrm>
            <a:off x="8173064" y="2700184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6BD434-9CA8-43B4-BA1D-55980AC19621}"/>
              </a:ext>
            </a:extLst>
          </p:cNvPr>
          <p:cNvSpPr>
            <a:spLocks noGrp="1"/>
          </p:cNvSpPr>
          <p:nvPr/>
        </p:nvSpPr>
        <p:spPr>
          <a:xfrm>
            <a:off x="8725514" y="2662084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 hóa đường truyền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EF5BDBA-2B6F-4088-8538-1D28700B9148}"/>
              </a:ext>
            </a:extLst>
          </p:cNvPr>
          <p:cNvSpPr>
            <a:spLocks noGrp="1"/>
          </p:cNvSpPr>
          <p:nvPr/>
        </p:nvSpPr>
        <p:spPr>
          <a:xfrm>
            <a:off x="8173064" y="3481234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7A67EE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F7B816-FF86-401D-8C75-CE94D17E7095}"/>
              </a:ext>
            </a:extLst>
          </p:cNvPr>
          <p:cNvSpPr>
            <a:spLocks noGrp="1"/>
          </p:cNvSpPr>
          <p:nvPr/>
        </p:nvSpPr>
        <p:spPr>
          <a:xfrm>
            <a:off x="8173064" y="3576484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471429-C97B-406A-B497-7610F0B5A1CE}"/>
              </a:ext>
            </a:extLst>
          </p:cNvPr>
          <p:cNvSpPr>
            <a:spLocks noGrp="1"/>
          </p:cNvSpPr>
          <p:nvPr/>
        </p:nvSpPr>
        <p:spPr>
          <a:xfrm>
            <a:off x="8725514" y="3538384"/>
            <a:ext cx="2209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đoạn mạng VLAN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AF2799-E3C4-43E5-B264-F63A58E626EA}"/>
              </a:ext>
            </a:extLst>
          </p:cNvPr>
          <p:cNvSpPr>
            <a:spLocks noGrp="1"/>
          </p:cNvSpPr>
          <p:nvPr/>
        </p:nvSpPr>
        <p:spPr>
          <a:xfrm>
            <a:off x="8173064" y="4605184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BCD3DD"/>
                </a:solidFill>
              </a:defRPr>
            </a:pPr>
            <a:r>
              <a:rPr sz="1600" b="0" i="0">
                <a:solidFill>
                  <a:srgbClr val="BCD3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nhận kiểm soát nền tảng còn hiệu lực.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6941FF-C1EB-4507-9191-EFF1BBB535F9}"/>
              </a:ext>
            </a:extLst>
          </p:cNvPr>
          <p:cNvSpPr>
            <a:spLocks noGrp="1"/>
          </p:cNvSpPr>
          <p:nvPr/>
        </p:nvSpPr>
        <p:spPr>
          <a:xfrm>
            <a:off x="629264" y="6395884"/>
            <a:ext cx="809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1" i="0">
                <a:solidFill>
                  <a:srgbClr val="7190A3"/>
                </a:solidFill>
              </a:defRPr>
            </a:pPr>
            <a:r>
              <a:rPr sz="1600" b="1" i="0">
                <a:solidFill>
                  <a:srgbClr val="7190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IoT  •  VÕ NGUYỄN DUYÊN  •  231A010722</a:t>
            </a:r>
          </a:p>
        </p:txBody>
      </p:sp>
    </p:spTree>
    <p:extLst>
      <p:ext uri="{BB962C8B-B14F-4D97-AF65-F5344CB8AC3E}">
        <p14:creationId xmlns:p14="http://schemas.microsoft.com/office/powerpoint/2010/main" val="75711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 l="25378" r="25378"/>
          <a:stretch>
            <a:fillRect/>
          </a:stretch>
        </p:blipFill>
        <p:spPr>
          <a:xfrm>
            <a:off x="6153150" y="19665"/>
            <a:ext cx="60007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C2D277-D2D5-4051-AC1A-974A2F597FD6}"/>
              </a:ext>
            </a:extLst>
          </p:cNvPr>
          <p:cNvSpPr>
            <a:spLocks noGrp="1"/>
          </p:cNvSpPr>
          <p:nvPr/>
        </p:nvSpPr>
        <p:spPr>
          <a:xfrm>
            <a:off x="0" y="-285135"/>
            <a:ext cx="78105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D63C14-527D-4E30-BB66-6F25C5C98ADF}"/>
              </a:ext>
            </a:extLst>
          </p:cNvPr>
          <p:cNvSpPr>
            <a:spLocks noGrp="1"/>
          </p:cNvSpPr>
          <p:nvPr/>
        </p:nvSpPr>
        <p:spPr>
          <a:xfrm>
            <a:off x="609600" y="267314"/>
            <a:ext cx="1028700" cy="588091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528AD-5607-4534-B4B7-185BFD2DC566}"/>
              </a:ext>
            </a:extLst>
          </p:cNvPr>
          <p:cNvSpPr>
            <a:spLocks noGrp="1"/>
          </p:cNvSpPr>
          <p:nvPr/>
        </p:nvSpPr>
        <p:spPr>
          <a:xfrm>
            <a:off x="685800" y="24826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 dirty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8B724-DFE3-4ED2-A786-288AC1CF2518}"/>
              </a:ext>
            </a:extLst>
          </p:cNvPr>
          <p:cNvSpPr>
            <a:spLocks noGrp="1"/>
          </p:cNvSpPr>
          <p:nvPr/>
        </p:nvSpPr>
        <p:spPr>
          <a:xfrm>
            <a:off x="609600" y="781665"/>
            <a:ext cx="6191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 danh sách rủi ro</a:t>
            </a:r>
          </a:p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 kế hoạch hành động.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5B3DD-2622-436F-A915-ABE3B0BE7916}"/>
              </a:ext>
            </a:extLst>
          </p:cNvPr>
          <p:cNvSpPr>
            <a:spLocks noGrp="1"/>
          </p:cNvSpPr>
          <p:nvPr/>
        </p:nvSpPr>
        <p:spPr>
          <a:xfrm>
            <a:off x="609600" y="2038965"/>
            <a:ext cx="581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D0E3E9"/>
                </a:solidFill>
              </a:defRPr>
            </a:pPr>
            <a:r>
              <a:rPr sz="1600" b="0" i="0">
                <a:solidFill>
                  <a:srgbClr val="D0E3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 hoàn thành đủ 5 mục tiêu và tạo được bộ công cụ quản lý rủi ro có thể tái sử dụng cho hệ thống IoT quy mô nhỏ.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0A7A40-2B14-4701-A63A-FAB5206E91CE}"/>
              </a:ext>
            </a:extLst>
          </p:cNvPr>
          <p:cNvSpPr>
            <a:spLocks noGrp="1"/>
          </p:cNvSpPr>
          <p:nvPr/>
        </p:nvSpPr>
        <p:spPr>
          <a:xfrm>
            <a:off x="609600" y="3010515"/>
            <a:ext cx="12573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E001BE-788E-4AC5-AAFC-E4E57FC24503}"/>
              </a:ext>
            </a:extLst>
          </p:cNvPr>
          <p:cNvSpPr>
            <a:spLocks noGrp="1"/>
          </p:cNvSpPr>
          <p:nvPr/>
        </p:nvSpPr>
        <p:spPr>
          <a:xfrm>
            <a:off x="781050" y="313434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6931C-BE16-4939-A401-0BFB28209537}"/>
              </a:ext>
            </a:extLst>
          </p:cNvPr>
          <p:cNvSpPr>
            <a:spLocks noGrp="1"/>
          </p:cNvSpPr>
          <p:nvPr/>
        </p:nvSpPr>
        <p:spPr>
          <a:xfrm>
            <a:off x="952500" y="3275925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 dirty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 SẢN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A229E1-6545-4FEE-9119-ACC71B4ABB79}"/>
              </a:ext>
            </a:extLst>
          </p:cNvPr>
          <p:cNvSpPr>
            <a:spLocks noGrp="1"/>
          </p:cNvSpPr>
          <p:nvPr/>
        </p:nvSpPr>
        <p:spPr>
          <a:xfrm>
            <a:off x="2038350" y="3010515"/>
            <a:ext cx="12573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A1B884-AF4B-4F18-8238-DEC3631652C7}"/>
              </a:ext>
            </a:extLst>
          </p:cNvPr>
          <p:cNvSpPr>
            <a:spLocks noGrp="1"/>
          </p:cNvSpPr>
          <p:nvPr/>
        </p:nvSpPr>
        <p:spPr>
          <a:xfrm>
            <a:off x="2209800" y="313434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F77B7D-AC60-45B0-8682-E9EBBD98569D}"/>
              </a:ext>
            </a:extLst>
          </p:cNvPr>
          <p:cNvSpPr>
            <a:spLocks noGrp="1"/>
          </p:cNvSpPr>
          <p:nvPr/>
        </p:nvSpPr>
        <p:spPr>
          <a:xfrm>
            <a:off x="2209800" y="3524865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 dirty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RỦI RO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C4BC42-0DBD-4B64-853F-B58091DE4E76}"/>
              </a:ext>
            </a:extLst>
          </p:cNvPr>
          <p:cNvSpPr>
            <a:spLocks noGrp="1"/>
          </p:cNvSpPr>
          <p:nvPr/>
        </p:nvSpPr>
        <p:spPr>
          <a:xfrm>
            <a:off x="3467100" y="3010515"/>
            <a:ext cx="12573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69DF49-AD25-4992-BFC9-9D73CE601F13}"/>
              </a:ext>
            </a:extLst>
          </p:cNvPr>
          <p:cNvSpPr>
            <a:spLocks noGrp="1"/>
          </p:cNvSpPr>
          <p:nvPr/>
        </p:nvSpPr>
        <p:spPr>
          <a:xfrm>
            <a:off x="3638550" y="313434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036C9-8D23-4FE6-94F0-31FC2CFC0E13}"/>
              </a:ext>
            </a:extLst>
          </p:cNvPr>
          <p:cNvSpPr>
            <a:spLocks noGrp="1"/>
          </p:cNvSpPr>
          <p:nvPr/>
        </p:nvSpPr>
        <p:spPr>
          <a:xfrm>
            <a:off x="3676650" y="3348950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 dirty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SOÁT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881CBC-0BFB-4F22-974E-D2202064F5E1}"/>
              </a:ext>
            </a:extLst>
          </p:cNvPr>
          <p:cNvSpPr>
            <a:spLocks noGrp="1"/>
          </p:cNvSpPr>
          <p:nvPr/>
        </p:nvSpPr>
        <p:spPr>
          <a:xfrm>
            <a:off x="4895850" y="3010515"/>
            <a:ext cx="1257300" cy="876300"/>
          </a:xfrm>
          <a:prstGeom prst="roundRect">
            <a:avLst>
              <a:gd name="adj" fmla="val 13043"/>
            </a:avLst>
          </a:prstGeom>
          <a:solidFill>
            <a:srgbClr val="0E3049"/>
          </a:solidFill>
          <a:ln w="9525">
            <a:solidFill>
              <a:srgbClr val="1B4A66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03484E-986A-451C-B5E3-059F1C9BBAF4}"/>
              </a:ext>
            </a:extLst>
          </p:cNvPr>
          <p:cNvSpPr>
            <a:spLocks noGrp="1"/>
          </p:cNvSpPr>
          <p:nvPr/>
        </p:nvSpPr>
        <p:spPr>
          <a:xfrm>
            <a:off x="5067300" y="3134340"/>
            <a:ext cx="914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A9D34-4F81-4195-BAFE-7957D48B6677}"/>
              </a:ext>
            </a:extLst>
          </p:cNvPr>
          <p:cNvSpPr>
            <a:spLocks noGrp="1"/>
          </p:cNvSpPr>
          <p:nvPr/>
        </p:nvSpPr>
        <p:spPr>
          <a:xfrm>
            <a:off x="5067300" y="3343235"/>
            <a:ext cx="971551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BFD5DF"/>
                </a:solidFill>
              </a:defRPr>
            </a:pPr>
            <a:r>
              <a:rPr sz="1600" b="1" i="0" dirty="0">
                <a:solidFill>
                  <a:srgbClr val="BFD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3EF1E2-5E46-44EF-ABB4-97C503945139}"/>
              </a:ext>
            </a:extLst>
          </p:cNvPr>
          <p:cNvSpPr>
            <a:spLocks noGrp="1"/>
          </p:cNvSpPr>
          <p:nvPr/>
        </p:nvSpPr>
        <p:spPr>
          <a:xfrm>
            <a:off x="609600" y="422971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59DCE0"/>
                </a:solidFill>
              </a:defRPr>
            </a:pPr>
            <a:r>
              <a:rPr sz="1600" b="1" i="0">
                <a:solidFill>
                  <a:srgbClr val="59DC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B25DCB-1795-4B0B-A826-296779F5FD3C}"/>
              </a:ext>
            </a:extLst>
          </p:cNvPr>
          <p:cNvSpPr>
            <a:spLocks noGrp="1"/>
          </p:cNvSpPr>
          <p:nvPr/>
        </p:nvSpPr>
        <p:spPr>
          <a:xfrm>
            <a:off x="609600" y="457261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B262B-FEF4-46BC-A208-CA712503D019}"/>
              </a:ext>
            </a:extLst>
          </p:cNvPr>
          <p:cNvSpPr>
            <a:spLocks noGrp="1"/>
          </p:cNvSpPr>
          <p:nvPr/>
        </p:nvSpPr>
        <p:spPr>
          <a:xfrm>
            <a:off x="609600" y="4511164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 dirty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06D8C2-2AAC-4CD0-9052-5D0AA3F9828A}"/>
              </a:ext>
            </a:extLst>
          </p:cNvPr>
          <p:cNvSpPr>
            <a:spLocks noGrp="1"/>
          </p:cNvSpPr>
          <p:nvPr/>
        </p:nvSpPr>
        <p:spPr>
          <a:xfrm>
            <a:off x="971550" y="4572615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 nghiệm trên thiết bị IoT vật lý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59E2C67-4202-4EF8-921C-4E746F873D9D}"/>
              </a:ext>
            </a:extLst>
          </p:cNvPr>
          <p:cNvSpPr>
            <a:spLocks noGrp="1"/>
          </p:cNvSpPr>
          <p:nvPr/>
        </p:nvSpPr>
        <p:spPr>
          <a:xfrm>
            <a:off x="609600" y="502981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3A6974-FD79-42AC-8F52-F723DCB2170D}"/>
              </a:ext>
            </a:extLst>
          </p:cNvPr>
          <p:cNvSpPr>
            <a:spLocks noGrp="1"/>
          </p:cNvSpPr>
          <p:nvPr/>
        </p:nvSpPr>
        <p:spPr>
          <a:xfrm>
            <a:off x="609600" y="496314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 dirty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4419E0-7AD5-4AE7-A5C0-9F1B80CE580E}"/>
              </a:ext>
            </a:extLst>
          </p:cNvPr>
          <p:cNvSpPr>
            <a:spLocks noGrp="1"/>
          </p:cNvSpPr>
          <p:nvPr/>
        </p:nvSpPr>
        <p:spPr>
          <a:xfrm>
            <a:off x="971550" y="5029815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 hợp SIEM / IDS / IPS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97799B3-3B9A-4D5F-A1AB-10F98E4FC79E}"/>
              </a:ext>
            </a:extLst>
          </p:cNvPr>
          <p:cNvSpPr>
            <a:spLocks noGrp="1"/>
          </p:cNvSpPr>
          <p:nvPr/>
        </p:nvSpPr>
        <p:spPr>
          <a:xfrm>
            <a:off x="609600" y="548701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8C7B3"/>
          </a:solidFill>
          <a:ln w="0">
            <a:noFill/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B191CB-A1FB-4E59-8928-107EDFEF1466}"/>
              </a:ext>
            </a:extLst>
          </p:cNvPr>
          <p:cNvSpPr>
            <a:spLocks noGrp="1"/>
          </p:cNvSpPr>
          <p:nvPr/>
        </p:nvSpPr>
        <p:spPr>
          <a:xfrm>
            <a:off x="609600" y="543939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71B2C"/>
                </a:solidFill>
              </a:defRPr>
            </a:pPr>
            <a:r>
              <a:rPr sz="1600" b="1" i="0" dirty="0">
                <a:solidFill>
                  <a:srgbClr val="071B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C6186A-03E6-49AE-A4F2-02A947D9B7AE}"/>
              </a:ext>
            </a:extLst>
          </p:cNvPr>
          <p:cNvSpPr>
            <a:spLocks noGrp="1"/>
          </p:cNvSpPr>
          <p:nvPr/>
        </p:nvSpPr>
        <p:spPr>
          <a:xfrm>
            <a:off x="971550" y="5487015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FFFFFF"/>
                </a:solidFill>
              </a:defRPr>
            </a:pPr>
            <a:r>
              <a:rPr sz="1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theo OWASP ISTG và mở rộng theo NIST CSF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0A2EB6-677B-4FBD-967B-D54F77703CBF}"/>
              </a:ext>
            </a:extLst>
          </p:cNvPr>
          <p:cNvSpPr>
            <a:spLocks noGrp="1"/>
          </p:cNvSpPr>
          <p:nvPr/>
        </p:nvSpPr>
        <p:spPr>
          <a:xfrm>
            <a:off x="609600" y="6134715"/>
            <a:ext cx="552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 i="0">
                <a:solidFill>
                  <a:srgbClr val="18C7B3"/>
                </a:solidFill>
              </a:defRPr>
            </a:pPr>
            <a:r>
              <a:rPr sz="1600" b="1" i="0">
                <a:solidFill>
                  <a:srgbClr val="18C7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 VÀ CÁC BẠN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1162495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1524</Words>
  <Application>Microsoft Office PowerPoint</Application>
  <DocSecurity>0</DocSecurity>
  <PresentationFormat>Widescreen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VÕ NGUYỄN DUYÊN - 231A010722</cp:lastModifiedBy>
  <cp:revision>1</cp:revision>
  <dcterms:created xsi:type="dcterms:W3CDTF">2026-07-24T15:16:32Z</dcterms:created>
  <dcterms:modified xsi:type="dcterms:W3CDTF">2026-07-24T15:37:47Z</dcterms:modified>
</cp:coreProperties>
</file>
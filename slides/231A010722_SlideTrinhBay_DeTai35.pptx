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Phân bố rủi ro theo mức độ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Số lượng rủi ro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6C0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E0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Nghiêm trọng</c:v>
                  </c:pt>
                  <c:pt idx="1">
                    <c:v>Rất cao</c:v>
                  </c:pt>
                  <c:pt idx="2">
                    <c:v>Cao</c:v>
                  </c:pt>
                  <c:pt idx="3">
                    <c:v>Trung bình</c:v>
                  </c:pt>
                  <c:pt idx="4">
                    <c:v>Thấp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4</c:v>
                </c:pt>
                <c:pt idx="3">
                  <c:v>7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build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VĂN HIẾN — KHOA CÔNG NGHỆ THÔNG TIN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4592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phần: Bảo mật IoT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rủi ro bảo mật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hệ thống IoT quy mô nhỏ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35 — Hướng G: Quản trị rủi ro, chính sách, checklist và kiểm thử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846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Võ Nguyễn Duyên — 231A010722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52120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</a:t>
            </a:r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github.com/vonguyenduyen512-oss/231A010722-vo-nguyen-duyen-quan-ly-rui-ro-iot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35 · Quản lý rủi ro bảo mật cho hệ thống IoT quy mô nhỏ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MỞ ĐẦU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và vấn đề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phát triển mạnh trong nhà thông minh, y tế, nông nghiệp, doanh nghiệp — nhưng hệ thống quy mô nhỏ hạn chế chi phí, thiếu quản trị.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thiết bị dùng mật khẩu mặc định, firmware không cập nhật, thiếu mã hóa và xác thực.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IoT &amp; NIST SP 800-30 là hai khung tham chiếu chính được vận dụng.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457200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biểu vấn đề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10312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IoT quy mô nhỏ tồn tại nhiều lỗ hổng (mật khẩu yếu, firmware cũ, thiếu mã hóa/xác thực) làm gia tăng nguy cơ truy cập trái phép, rò rỉ dữ liệu và tấn công mạng — ảnh hưởng trực tiếp đến tính bí mật, toàn vẹn và sẵn sàng (CIA) của hệ thống.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42976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Cần một mô hình quản lý rủi ro có hệ thống: nhận diện tài sản, phân tích đe dọa, đánh giá rủi ro và đề xuất giảm thiểu.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35 · Quản lý rủi ro bảo mật cho hệ thống IoT quy mô nhỏ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MỞ ĐẦU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và phạm vi nghiên cứu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00784"/>
            <a:ext cx="548640" cy="5486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00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5623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và phân loại tài sản quan trọng trong hệ thống IoT quy mô nhỏ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675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60904"/>
            <a:ext cx="548640" cy="5486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609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514600"/>
            <a:ext cx="5623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mối đe dọa, lỗ hổng và đánh giá mức độ rủi ro từng tài sản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66751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621024"/>
            <a:ext cx="548640" cy="5486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210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474720"/>
            <a:ext cx="5623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Risk Register và ma trận đánh giá rủi ro 5×5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6675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581144"/>
            <a:ext cx="548640" cy="5486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811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434840"/>
            <a:ext cx="5623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biện pháp xử lý, giảm thiểu rủi ro mức cao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66751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541264"/>
            <a:ext cx="548640" cy="5486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412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5394960"/>
            <a:ext cx="5623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checklist kiểm tra bảo mật định kỳ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98080" y="1554480"/>
            <a:ext cx="4160520" cy="4572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&amp; giới hạn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0" y="219456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tượng: thiết bị IoT, gateway, dữ liệu cảm biến, tài khoản quản trị, hạ tầng mạng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trên mô hình IoT giả lập, theo chuẩn OWASP IoT &amp; NIST SP 800-30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tấn công thiết bị thực tế, không thu thập dữ liệu cá nhân thật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tập trung nhận diện – đánh giá – quản lý rủi ro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35 · Quản lý rủi ro bảo mật cho hệ thống IoT quy mô nhỏ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CƠ SỞ &amp; THIẾT KẾ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IoT quy mô nhỏ</a:t>
            </a:r>
            <a:endParaRPr lang="en-US" sz="2600" dirty="0"/>
          </a:p>
        </p:txBody>
      </p:sp>
      <p:pic>
        <p:nvPicPr>
          <p:cNvPr id="4" name="Image 0" descr="/home/claude/build/images/Hinh_3.1_KienTrucDeXu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31520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508760"/>
            <a:ext cx="3566160" cy="48463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dữ liệu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21040" y="21031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IoT → Gateway → Server/Cloud → Ứng dụng quản lý → Người quản trị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2104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lớp bảo mật chính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21040" y="34747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thiết bị IoT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gateway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mạng truyền thông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máy chủ &amp; CSDL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ứng dụng quản lý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người dùng &amp; phân quyền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35 · Quản lý rủi ro bảo mật cho hệ thống IoT quy mô nhỏ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PHƯƠNG PHÁP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quản lý rủi ro — 6 bước</a:t>
            </a:r>
            <a:endParaRPr lang="en-US" sz="2600" dirty="0"/>
          </a:p>
        </p:txBody>
      </p:sp>
      <p:pic>
        <p:nvPicPr>
          <p:cNvPr id="4" name="Image 0" descr="/home/claude/build/images/Hinh_2.2_QuyTrinhQuanLyRui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864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554480"/>
            <a:ext cx="411480" cy="4114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6" name="Text 3"/>
          <p:cNvSpPr/>
          <p:nvPr/>
        </p:nvSpPr>
        <p:spPr>
          <a:xfrm>
            <a:off x="635508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03720" y="15361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mô hình hệ thống IoT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2176272"/>
            <a:ext cx="411480" cy="4114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03720" y="21579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tài sản cần bảo vệ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55080" y="2798064"/>
            <a:ext cx="411480" cy="4114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2798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03720" y="277977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mối đe dọa &amp; lỗ hổng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3419856"/>
            <a:ext cx="411480" cy="411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3419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03720" y="34015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mức độ rủi ro (L × I)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55080" y="4041648"/>
            <a:ext cx="411480" cy="411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4041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903720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biện pháp giảm thiểu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55080" y="4663440"/>
            <a:ext cx="411480" cy="4114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46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03720" y="46451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rủi ro còn lại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35 · Quản lý rủi ro bảo mật cho hệ thống IoT quy mô nhỏ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TRIỂN KHAI &amp; SẢN PHẨM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tài sản cần bảo vệ</a:t>
            </a:r>
            <a:endParaRPr lang="en-US" sz="2600" dirty="0"/>
          </a:p>
        </p:txBody>
      </p:sp>
      <p:pic>
        <p:nvPicPr>
          <p:cNvPr id="4" name="Image 0" descr="/home/claude/build/images/Hinh_5.1_DanhMucTaiS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6751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508760"/>
            <a:ext cx="4160520" cy="44348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7373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77240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sản được nhận diện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trung bình: 4.13/5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356616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IoT: cảm biến, camera, khóa cửa thông minh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tầng: gateway, máy chủ, mạng nội bộ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liệu: cảm biến, log hệ thống, CSDL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danh: tài khoản quản trị, khóa mã hóa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mềm: web dashboard, mobile app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35 · Quản lý rủi ro bảo mật cho hệ thống IoT quy mô nhỏ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KẾT QUẢ &amp; THẢO LUẬN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Risk Register — 17 rủi ro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035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554480"/>
            <a:ext cx="4800600" cy="42976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708660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xét chính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86600" y="2194560"/>
            <a:ext cx="4297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rủi ro trên 15 tài sản — không ghi nhận mức Thấp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xác thực/truy cập (mật khẩu yếu, thiếu MFA, truy cập từ xa) chiếm tỷ trọng cao nhất ở mức Nghiêm trọng/Rất cao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firmware chưa cập nhật cũng là nguyên nhân chính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nhận định của OWASP IoT Security Project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35 · Quản lý rủi ro bảo mật cho hệ thống IoT quy mô nhỏ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ĐÁNH GIÁ BẢO MẬT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đánh giá rủi ro 5×5</a:t>
            </a:r>
            <a:endParaRPr lang="en-US" sz="2600" dirty="0"/>
          </a:p>
        </p:txBody>
      </p:sp>
      <p:pic>
        <p:nvPicPr>
          <p:cNvPr id="4" name="Image 0" descr="/home/claude/build/images/Hinh_5.3_MaTran5x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10332720" cy="4096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35 · Quản lý rủi ro bảo mật cho hệ thống IoT quy mô nhỏ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ĐÁNH GIÁ BẢO MẬT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xử lý 5 rủi ro ưu tiên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09728" cy="8412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50876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không cập nhật firmware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09360" y="1508760"/>
            <a:ext cx="1417320" cy="84124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Nghiêm trọng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0" y="150876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→ Trung bình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41448"/>
            <a:ext cx="109728" cy="8412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41448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2441448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 khẩu quản trị yếu, không MFA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2441448"/>
            <a:ext cx="1417320" cy="84124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Nghiêm trọng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0" y="2441448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→ Thấp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74136"/>
            <a:ext cx="109728" cy="841248"/>
          </a:xfrm>
          <a:prstGeom prst="rect">
            <a:avLst/>
          </a:prstGeom>
          <a:solidFill>
            <a:srgbClr val="E36C0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74136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R-16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3374136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cửa bị mở khóa trái phép (replay)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3374136"/>
            <a:ext cx="1417320" cy="841248"/>
          </a:xfrm>
          <a:prstGeom prst="rect">
            <a:avLst/>
          </a:prstGeom>
          <a:solidFill>
            <a:srgbClr val="E36C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cao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3374136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→ Thấp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306824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06824"/>
            <a:ext cx="109728" cy="841248"/>
          </a:xfrm>
          <a:prstGeom prst="rect">
            <a:avLst/>
          </a:prstGeom>
          <a:solidFill>
            <a:srgbClr val="E36C09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306824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91640" y="4306824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IP dùng mật khẩu mặc định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09360" y="4306824"/>
            <a:ext cx="1417320" cy="841248"/>
          </a:xfrm>
          <a:prstGeom prst="rect">
            <a:avLst/>
          </a:prstGeom>
          <a:solidFill>
            <a:srgbClr val="E36C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cao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0" y="4306824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→ Thấp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239512"/>
            <a:ext cx="11109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239512"/>
            <a:ext cx="109728" cy="841248"/>
          </a:xfrm>
          <a:prstGeom prst="rect">
            <a:avLst/>
          </a:prstGeom>
          <a:solidFill>
            <a:srgbClr val="E36C09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239512"/>
            <a:ext cx="822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91640" y="523951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lỗi thời chứa CVE công bố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09360" y="5239512"/>
            <a:ext cx="1417320" cy="841248"/>
          </a:xfrm>
          <a:prstGeom prst="rect">
            <a:avLst/>
          </a:prstGeom>
          <a:solidFill>
            <a:srgbClr val="E36C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cao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63840" y="5239512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→ Thấp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35 · Quản lý rủi ro bảo mật cho hệ thống IoT quy mô nhỏ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ĐÁNH GIÁ BẢO MẬT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kiểm tra bảo mật định kỳ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1B998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IoT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hạng mục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tuần / tháng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hạng mục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5786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tuần / tháng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E36C09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Mạng truyền thông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hạng mục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5786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quý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9720" y="1554480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chủ / CSDL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0" y="2240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hạng mục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0" y="25786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tuần / tháng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18688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13315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55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&amp; truy cập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9044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hạng mục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2428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quý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29000" y="3218688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E36C09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355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quản lý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39044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hạng mục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42428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quý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3218688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1B998B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355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&amp; ứng phó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39044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hạng mục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2428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tuần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89720" y="3218688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13315C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0" y="3355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26880" y="39044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hạng mục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0" y="42428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tháng/lần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cộng 15 hạng mục kiểm tra, chi tiết đầy đủ trong results/Risk_Register_va_Ma_tran_Rui_ro.xlsx (Bảng 6.5)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35 · Quản lý rủi ro bảo mật cho hệ thống IoT quy mô nhỏ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48056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thành công quy trình quản lý rủi ro cho IoT quy mô nhỏ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15 tài sản, 17 rủi ro bảo mật, ưu tiên xử lý theo ma trận 5×5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biện pháp giảm thiểu cho 5 rủi ro mức cao nhất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cấp checklist kiểm tra bảo mật định kỳ, dễ áp dụng thực tế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94960" cy="448056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210312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thử nghiệm trên thiết bị IoT thực tế trong môi trường kiểm soát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checklist bằng công cụ giám sát/cảnh báo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đánh giá định lượng khi có đủ dữ liệu thống kê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github.com/vonguyenduyen512-oss/231A010722-vo-nguyen-duyen-quan-ly-rui-ro-iot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2026-07-24T01:27:26Z</dcterms:created>
  <dcterms:modified xsi:type="dcterms:W3CDTF">2026-07-24T01:27:26Z</dcterms:modified>
</cp:coreProperties>
</file>